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RPL-BRAND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462125" cy="41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69880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8686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Build and run software
from one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9359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5C5C5"/>
                </a:solidFill>
                <a:latin typeface="Arial"/>
              </a:rPr>
              <a:t>Series E financing | $1B raise | $20B pre-money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251960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61104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5C5C5"/>
                </a:solidFill>
                <a:latin typeface="Arial"/>
              </a:rPr>
              <a:t>ILLUSTRATIVE FINANCING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$1.0B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Total raise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Pre-money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091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$800M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5138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$1B funds the next stage of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$800M funds the company. $200M provides employee and early-investor liquidity.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RPL-C-2025 |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financing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Primary capital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Secondary liquidity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08152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30906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buyer ownership
3.8% primary dilution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30815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0906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5727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VALUATION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385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Mar-26 Series 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195681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956816"/>
            <a:ext cx="1197032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192024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$9.0B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6700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pre-money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268833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2688336"/>
            <a:ext cx="2660072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3888" y="265176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40156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post-money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341985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79" y="3419856"/>
            <a:ext cx="2766475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3888" y="338328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36168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2.2x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416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step-up vs. March 2026 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36168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16.1x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41655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767270"/>
                </a:solidFill>
                <a:latin typeface="Arial"/>
              </a:rPr>
              <a:t>pre-money / 2027E 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102352"/>
            <a:ext cx="10954512" cy="87782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34009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Primary: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funds models, users, enterprise sales, international growth, and talent</a:t>
            </a:r>
            <a:r>
              <a:rPr sz="950" b="1" i="0">
                <a:solidFill>
                  <a:srgbClr val="FFFFFF"/>
                </a:solidFill>
                <a:latin typeface="Arial"/>
              </a:rPr>
              <a:t>   |   Secondary: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employee and early-investor liquidity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Five reasons to invest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Distribution, product depth, enterprise demand, unit economics, and market size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50M+ users give Replit a direct path to teams and enterprise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Full-stack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Agent, workspace, collaboration, deployment, and runtime are in one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Enterprise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Users from 85% of the Fortune 500 show demand inside large companies.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Improving margins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Lower model cost and more enterprise revenue lift gross margin.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Several revenue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Replit earns revenue from individuals, teams, enterprises, agents, and running apps.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67528"/>
            <a:ext cx="11000232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AI changes software creation. The key question is who owns the full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50M users create a direct path into enterprise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Public scale metrics and modeled financial estimates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TECHCRUNCH-D-2026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Fortune 500 presence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115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exit ARR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783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1,200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customers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190+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Countries reached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3447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3447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727448"/>
            <a:ext cx="11000232" cy="121615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882896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One product from idea to running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6675120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22008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065008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11896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9454896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01784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55955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One revenue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Replit expands software creation beyond professional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Students, founders, employees, and enterprises can build working software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663440" cy="437083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3C00"/>
                </a:solidFill>
                <a:latin typeface="Arial"/>
              </a:rPr>
              <a:t>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52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creators today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3374136"/>
            <a:ext cx="374904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371246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5C5C5"/>
                </a:solidFill>
                <a:latin typeface="Courier New"/>
              </a:rPr>
              <a:t>REPLIT'S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3611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Billions turn intent
into working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5272" y="1572768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0" y="1755648"/>
            <a:ext cx="457200" cy="45720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7556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2821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Courier New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93392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Learn by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651760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834640"/>
            <a:ext cx="457200" cy="457200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072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Courier New"/>
              </a:rPr>
              <a:t>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Launch without a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30752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0" y="3913632"/>
            <a:ext cx="457200" cy="457200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862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Courier New"/>
              </a:rPr>
              <a:t>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51376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Automate the backlog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5272" y="4809744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2160" y="4992624"/>
            <a:ext cx="457200" cy="457200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992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9651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9F350F"/>
                </a:solidFill>
                <a:latin typeface="Courier New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230368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Govern creation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8338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Intent</a:t>
            </a:r>
          </a:p>
        </p:txBody>
      </p:sp>
      <p:sp>
        <p:nvSpPr>
          <p:cNvPr id="36" name="Chevron 35"/>
          <p:cNvSpPr/>
          <p:nvPr/>
        </p:nvSpPr>
        <p:spPr>
          <a:xfrm>
            <a:off x="6601968" y="5815584"/>
            <a:ext cx="310896" cy="256032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58338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Agentic creation</a:t>
            </a:r>
          </a:p>
        </p:txBody>
      </p:sp>
      <p:sp>
        <p:nvSpPr>
          <p:cNvPr id="38" name="Chevron 37"/>
          <p:cNvSpPr/>
          <p:nvPr/>
        </p:nvSpPr>
        <p:spPr>
          <a:xfrm>
            <a:off x="8613648" y="5815584"/>
            <a:ext cx="310896" cy="256032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58338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Deployed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Software demand grows faster than engineering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current workflow requires many tools, teams, and handoffs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GITHUB-OCTOVERSE-2025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Translate need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194560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1448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Courier New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Prototype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8536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Courier New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Build</a:t>
            </a:r>
          </a:p>
        </p:txBody>
      </p:sp>
      <p:sp>
        <p:nvSpPr>
          <p:cNvPr id="20" name="Chevron 19"/>
          <p:cNvSpPr/>
          <p:nvPr/>
        </p:nvSpPr>
        <p:spPr>
          <a:xfrm>
            <a:off x="5888736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Courier New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Validate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735824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2712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Courier New"/>
              </a:rPr>
              <a:t>SECURE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Review</a:t>
            </a:r>
          </a:p>
        </p:txBody>
      </p:sp>
      <p:sp>
        <p:nvSpPr>
          <p:cNvPr id="28" name="Chevron 27"/>
          <p:cNvSpPr/>
          <p:nvPr/>
        </p:nvSpPr>
        <p:spPr>
          <a:xfrm>
            <a:off x="9582912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273552"/>
            <a:ext cx="11000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Every handoff introduces latency, translation loss, and another queue.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6+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specialized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000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7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7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7 to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cross-functional handoffs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892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4 to 12 wks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idea-to-production 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2784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1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6111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1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&lt;$1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1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cost to test an idea with agents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1676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513832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614416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67270"/>
                </a:solidFill>
                <a:latin typeface="Arial"/>
              </a:rPr>
              <a:t>The scarce resource is coordinated work from an idea to a secure, running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puts the full software workflow in 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Users can plan, build, test, secure, deploy, and manage an app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7543800" cy="60350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19072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Natural language • Canvas • Team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377440"/>
            <a:ext cx="7287768" cy="60350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2374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523744"/>
            <a:ext cx="5184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Plan • Build • Test • Repair •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182112"/>
            <a:ext cx="7031736" cy="60350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284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Workspace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32841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Code • Data • Collaboration • Versioning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" y="3986784"/>
            <a:ext cx="6775704" cy="60350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1330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Runtime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133088"/>
            <a:ext cx="4672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Deploy • Compute • Databases •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6424" y="4791456"/>
            <a:ext cx="6519672" cy="60350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Control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4937760"/>
            <a:ext cx="4416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Identity • Governance • Policy •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1572768"/>
            <a:ext cx="3072384" cy="3822191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184708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ONE CLOSED LOOP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049256" y="2660904"/>
            <a:ext cx="0" cy="768096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49256" y="3429000"/>
            <a:ext cx="960120" cy="0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49256" y="3429000"/>
            <a:ext cx="0" cy="996696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089136" y="3429000"/>
            <a:ext cx="960120" cy="0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720072" y="2331720"/>
            <a:ext cx="658368" cy="6583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72" y="23317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BUILD</a:t>
            </a:r>
          </a:p>
        </p:txBody>
      </p:sp>
      <p:sp>
        <p:nvSpPr>
          <p:cNvPr id="32" name="Oval 31"/>
          <p:cNvSpPr/>
          <p:nvPr/>
        </p:nvSpPr>
        <p:spPr>
          <a:xfrm>
            <a:off x="10680192" y="3099816"/>
            <a:ext cx="658368" cy="6583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0192" y="30998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LEARN</a:t>
            </a:r>
          </a:p>
        </p:txBody>
      </p:sp>
      <p:sp>
        <p:nvSpPr>
          <p:cNvPr id="34" name="Oval 33"/>
          <p:cNvSpPr/>
          <p:nvPr/>
        </p:nvSpPr>
        <p:spPr>
          <a:xfrm>
            <a:off x="9720072" y="4096512"/>
            <a:ext cx="658368" cy="6583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2" y="40965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36" name="Oval 35"/>
          <p:cNvSpPr/>
          <p:nvPr/>
        </p:nvSpPr>
        <p:spPr>
          <a:xfrm>
            <a:off x="8759952" y="3099816"/>
            <a:ext cx="658368" cy="6583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952" y="30998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IMPROVE</a:t>
            </a:r>
          </a:p>
        </p:txBody>
      </p:sp>
      <p:sp>
        <p:nvSpPr>
          <p:cNvPr id="38" name="Oval 37"/>
          <p:cNvSpPr/>
          <p:nvPr/>
        </p:nvSpPr>
        <p:spPr>
          <a:xfrm>
            <a:off x="9710928" y="3090672"/>
            <a:ext cx="676656" cy="6766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8" y="3090672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Courier New"/>
              </a:rPr>
              <a:t>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623560"/>
            <a:ext cx="11000232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69671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767270"/>
                </a:solidFill>
                <a:latin typeface="Arial"/>
              </a:rPr>
              <a:t>The product records the build workflow and the running workload. This data improves the next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Agent 4 plans, builds, tests, and deploys in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user sets the goal and reviews the result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65960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HUMAN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2359152"/>
            <a:ext cx="822960" cy="8229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35915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9359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520440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Set direction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0325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959352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Review choices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47141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98264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Refine outcome</a:t>
            </a:r>
          </a:p>
        </p:txBody>
      </p:sp>
      <p:sp>
        <p:nvSpPr>
          <p:cNvPr id="19" name="Chevron 18"/>
          <p:cNvSpPr/>
          <p:nvPr/>
        </p:nvSpPr>
        <p:spPr>
          <a:xfrm>
            <a:off x="2706624" y="3401568"/>
            <a:ext cx="384048" cy="457200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PARALLEL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Decompose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Create product +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1848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06440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Run and repair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06440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Find and patch risk</a:t>
            </a:r>
          </a:p>
        </p:txBody>
      </p:sp>
      <p:sp>
        <p:nvSpPr>
          <p:cNvPr id="37" name="Chevron 36"/>
          <p:cNvSpPr/>
          <p:nvPr/>
        </p:nvSpPr>
        <p:spPr>
          <a:xfrm>
            <a:off x="8138160" y="3401568"/>
            <a:ext cx="384048" cy="457200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1572768"/>
            <a:ext cx="2843784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18653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OUTCOME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2359152"/>
            <a:ext cx="2029968" cy="122529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2359152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RUNNING
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396849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3C00"/>
                </a:solidFill>
                <a:latin typeface="Arial"/>
              </a:rPr>
              <a:t>Agent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3484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10x faster than Agent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6648" y="493776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8" y="494690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Customers build working software in days instead of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Faster prototypes reduce delay before an engineering team starts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TRADITIONAL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7452360" cy="512064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Specify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9339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2140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93392"/>
            <a:ext cx="1737360" cy="51206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2140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4 to 12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20939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1031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260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WITH REPLIT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82696"/>
            <a:ext cx="2057400" cy="5120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107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rial"/>
              </a:rPr>
              <a:t>Prompt → review →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34670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3C00"/>
                </a:solidFill>
                <a:latin typeface="Arial"/>
              </a:rPr>
              <a:t>hours to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33832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3924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70248"/>
            <a:ext cx="5257800" cy="1316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407408"/>
            <a:ext cx="14173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16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EXAMPLE CUSTOMER: UKG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36592" y="4407408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416552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4754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47731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customer feedback before engineering starts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3912" y="4270248"/>
            <a:ext cx="5440680" cy="131673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5079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“Show, not tell.”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651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5C5C5"/>
                </a:solidFill>
                <a:latin typeface="Arial"/>
              </a:rPr>
              <a:t>Product leaders turn rough concepts into functional prototypes before traditional handoffs begin.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market is ready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Models work better, cost less, and meet more enterprise requirements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GARTNER-AI-CODE-2024 | MS-WORK-TREND-2024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056632" y="2331720"/>
            <a:ext cx="2011680" cy="2011680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23317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WHY
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Agents plan, test, and repair across full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Inference and routing costs decline as quality rises.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Software demand grows faster than engineering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Cloud creation reaches users outside traditional 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48006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9651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395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6052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Identity, security, and policy make enterprise rollout viable.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87368" y="2267712"/>
            <a:ext cx="969264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68312" y="2267712"/>
            <a:ext cx="1042415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87368" y="4160520"/>
            <a:ext cx="1115568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931152" y="4160520"/>
            <a:ext cx="1179575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25896" y="4343400"/>
            <a:ext cx="36576" cy="457200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 $250B market supports several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estimate covers individual users, business users, development teams, and running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EVANS-DEVELOPERS-2024 | IDC-DEVELOPER-2024 | IDC-KNOWLEDGE-2025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Individual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$50B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8024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125M units × $400/yr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business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$96B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200M units × $480/yr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Professional development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5A2B"/>
                </a:solidFill>
                <a:latin typeface="Arial"/>
              </a:rPr>
              <a:t>$54B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45M units × $1,200/yr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Agent and runtime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12E2E"/>
                </a:solidFill>
                <a:latin typeface="Arial"/>
              </a:rPr>
              <a:t>$50B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25M units × $2,000/yr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1572768"/>
            <a:ext cx="4809744" cy="3264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993392"/>
            <a:ext cx="4023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900" b="1" i="0">
                <a:solidFill>
                  <a:srgbClr val="FF3C00"/>
                </a:solidFill>
                <a:latin typeface="Arial"/>
              </a:rPr>
              <a:t>$250B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88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total addressable market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337560"/>
            <a:ext cx="320040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0920" y="363931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764D"/>
                </a:solidFill>
                <a:latin typeface="Arial"/>
              </a:rPr>
              <a:t>$90B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7307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5C5C5"/>
                </a:solidFill>
                <a:latin typeface="Arial"/>
              </a:rPr>
              <a:t>near-term SAM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79024" y="373075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4" y="3739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covers more of the workflow than point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product connects app creation, code control, cloud runtime, collaboration, and governance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 | RPL-ENT-DOC-2026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0899648" cy="67665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Observable platform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45920"/>
            <a:ext cx="1499616" cy="5303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AI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App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Model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Cloud suites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24942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4323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Natural language → full app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0585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4301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0176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96912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7123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8796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2512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62288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24871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18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334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279806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298094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Full code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585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4301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017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6912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34071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71231" y="303580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8796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2512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6228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902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1618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5334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34670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352958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Real-time collaboration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5196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8912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0585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4301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80176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96912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34071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71231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7968" y="358444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2512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228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7902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1618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" y="389534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407822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Integrated cloud runtime</a:t>
            </a:r>
          </a:p>
        </p:txBody>
      </p:sp>
      <p:sp>
        <p:nvSpPr>
          <p:cNvPr id="70" name="Oval 69"/>
          <p:cNvSpPr/>
          <p:nvPr/>
        </p:nvSpPr>
        <p:spPr>
          <a:xfrm>
            <a:off x="411480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5196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8912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05856" y="413308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4301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8017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96912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34071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71231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887968" y="413308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2512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6228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7902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1618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5334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4360" y="4443983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462686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Enterprise governance</a:t>
            </a:r>
          </a:p>
        </p:txBody>
      </p:sp>
      <p:sp>
        <p:nvSpPr>
          <p:cNvPr id="87" name="Oval 86"/>
          <p:cNvSpPr/>
          <p:nvPr/>
        </p:nvSpPr>
        <p:spPr>
          <a:xfrm>
            <a:off x="411480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25196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8912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70585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4301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8017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296912" y="468172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3407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7123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88796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2512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62288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7902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61618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5334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4360" y="499262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528" y="51755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Consumer-scale distribution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411480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5196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8912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05856" y="52303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84301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8017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96912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34071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71231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88796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02512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162288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79024" y="52303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61618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75334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94360" y="5596128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56692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Replit covers more steps. One product brings in users, coordinates agents, and runs governed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Individual users open the door to enterprise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sales team converts active users, teams, and deployed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1115568" y="1938528"/>
            <a:ext cx="1152144" cy="115214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CREATE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368296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Individual 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Arial"/>
              </a:rPr>
              <a:t>FREE + PAID</a:t>
            </a:r>
          </a:p>
        </p:txBody>
      </p:sp>
      <p:sp>
        <p:nvSpPr>
          <p:cNvPr id="15" name="Oval 14"/>
          <p:cNvSpPr/>
          <p:nvPr/>
        </p:nvSpPr>
        <p:spPr>
          <a:xfrm>
            <a:off x="3346703" y="1938528"/>
            <a:ext cx="1152144" cy="1152144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SHARE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Team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Arial"/>
              </a:rPr>
              <a:t>COLLABORATION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1938528"/>
            <a:ext cx="1152144" cy="1152144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23" name="Chevron 22"/>
          <p:cNvSpPr/>
          <p:nvPr/>
        </p:nvSpPr>
        <p:spPr>
          <a:xfrm>
            <a:off x="6830568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Business workload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Arial"/>
              </a:rPr>
              <a:t>USAGE</a:t>
            </a:r>
          </a:p>
        </p:txBody>
      </p:sp>
      <p:sp>
        <p:nvSpPr>
          <p:cNvPr id="27" name="Oval 26"/>
          <p:cNvSpPr/>
          <p:nvPr/>
        </p:nvSpPr>
        <p:spPr>
          <a:xfrm>
            <a:off x="7808976" y="1938528"/>
            <a:ext cx="1152144" cy="1152144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GOVERN</a:t>
            </a:r>
          </a:p>
        </p:txBody>
      </p:sp>
      <p:sp>
        <p:nvSpPr>
          <p:cNvPr id="29" name="Chevron 28"/>
          <p:cNvSpPr/>
          <p:nvPr/>
        </p:nvSpPr>
        <p:spPr>
          <a:xfrm>
            <a:off x="9061704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Enterprise 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6408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Arial"/>
              </a:rPr>
              <a:t>COMMITMENT</a:t>
            </a:r>
          </a:p>
        </p:txBody>
      </p:sp>
      <p:sp>
        <p:nvSpPr>
          <p:cNvPr id="33" name="Oval 32"/>
          <p:cNvSpPr/>
          <p:nvPr/>
        </p:nvSpPr>
        <p:spPr>
          <a:xfrm>
            <a:off x="10040112" y="1938528"/>
            <a:ext cx="1152144" cy="115214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8904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teams +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67544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7544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Arial"/>
              </a:rPr>
              <a:t>NRR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43984"/>
            <a:ext cx="11000232" cy="149047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Product-led growth lowers acquisition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Enterprise sales monetizes organic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72744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Runtime increases account spend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78808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99831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9611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50M+ user 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764D"/>
                </a:solidFill>
                <a:latin typeface="Arial"/>
              </a:rPr>
              <a:t>Usage signals identify the best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532180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5A2B"/>
                </a:solidFill>
                <a:latin typeface="Arial"/>
              </a:rPr>
              <a:t>Apps + agents + compute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Strong competitors prove the market. No product matches Replit's full scope.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Replit serves more users and covers more of the app workflow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5468112"/>
            <a:ext cx="9482328" cy="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44752" y="1719072"/>
            <a:ext cx="0" cy="374904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53218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Point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4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Full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61441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Professional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561441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331927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PLATFORM BREADTH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87959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AUDIENCE BREADTH</a:t>
            </a:r>
          </a:p>
        </p:txBody>
      </p:sp>
      <p:sp>
        <p:nvSpPr>
          <p:cNvPr id="17" name="Oval 16"/>
          <p:cNvSpPr/>
          <p:nvPr/>
        </p:nvSpPr>
        <p:spPr>
          <a:xfrm>
            <a:off x="2971800" y="4443984"/>
            <a:ext cx="804672" cy="804672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44398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GitHub
Copilot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3346704"/>
            <a:ext cx="804672" cy="804672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346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Cursor /
Windsurf</a:t>
            </a:r>
          </a:p>
        </p:txBody>
      </p:sp>
      <p:sp>
        <p:nvSpPr>
          <p:cNvPr id="21" name="Oval 20"/>
          <p:cNvSpPr/>
          <p:nvPr/>
        </p:nvSpPr>
        <p:spPr>
          <a:xfrm>
            <a:off x="2157984" y="3730752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37307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Claude
Code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3895344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89534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Lovable /
Bolt / v0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0" y="2084831"/>
            <a:ext cx="804672" cy="804672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084831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Cloud
suites</a:t>
            </a:r>
          </a:p>
        </p:txBody>
      </p:sp>
      <p:sp>
        <p:nvSpPr>
          <p:cNvPr id="27" name="Oval 26"/>
          <p:cNvSpPr/>
          <p:nvPr/>
        </p:nvSpPr>
        <p:spPr>
          <a:xfrm>
            <a:off x="8668512" y="1865376"/>
            <a:ext cx="1051560" cy="10515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1865376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1572768"/>
            <a:ext cx="4517136" cy="4206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673352"/>
            <a:ext cx="4224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Replit serves more users and covers the full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3496" y="4983480"/>
            <a:ext cx="15361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499262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OBSERVABLE POSITIONING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P&amp;L reaches operating profit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Revenue growth and gross-margin gains fund continued investment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P&amp;L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2025E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873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2026E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4826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2027E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79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2028E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0732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2029E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8685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2030E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6638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2031E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48256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13055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6873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4826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79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0732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8685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$4,100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6638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$5,250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395728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247802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507%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6873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826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91%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79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0732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8685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6638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2743200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282549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Gross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873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4826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$719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79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$1,353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0732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8685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6638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$3,990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090672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317296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Gross margin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6873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4826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2779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0732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8685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6638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438144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" y="352044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R&amp;D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873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4826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2779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0732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8685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6638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$980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785616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38679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Sales and marketing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873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4826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2779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0732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8685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6638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$1,030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4133088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528" y="421538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G&amp;A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88920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873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4826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2779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0732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8685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6638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4480560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528" y="45628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Adjusted operating income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($207)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46873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($231)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4826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2779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$293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0732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78685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6638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828032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" y="491032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Adjusted operating margin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920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-122%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46873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-36%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4826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-2%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62779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14%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20732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78685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6638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31%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" y="5175504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525780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Free cash flow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8920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($224)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46873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($256)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4826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($46)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62779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$278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0732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$655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78685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36638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$1,645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835640" y="1664208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35640" y="167335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5632704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2960" y="569671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Adjusted operating income and free cash flow turn positive in 2028.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and runtime drive the 2026 to 2031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Stacked bars show individual, enterprise, and agent usage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257800"/>
            <a:ext cx="566928" cy="164592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170017"/>
            <a:ext cx="566928" cy="87782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065776"/>
            <a:ext cx="566928" cy="104241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4809744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5" y="5148072"/>
            <a:ext cx="566928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4950561"/>
            <a:ext cx="566928" cy="197510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8255" y="4742078"/>
            <a:ext cx="566928" cy="208483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4486046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6495" y="5038344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6495" y="4681728"/>
            <a:ext cx="566928" cy="35661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6495" y="4297679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041647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39588"/>
            <a:ext cx="566928" cy="482803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418380"/>
            <a:ext cx="566928" cy="5212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3776472"/>
            <a:ext cx="566928" cy="64190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352043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$3,000M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846320"/>
            <a:ext cx="566928" cy="57607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133087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172968"/>
            <a:ext cx="566928" cy="9601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2916935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$4,100M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764024"/>
            <a:ext cx="566928" cy="6583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858768"/>
            <a:ext cx="566928" cy="90525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542031"/>
            <a:ext cx="566928" cy="1316736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28599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$5,250M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57276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SOURCE, $M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77056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5656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4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4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Agent use and hosting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158191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5910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627632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1627632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$5.25B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2651760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2651760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2816352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331927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to 2031 CAGR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276148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27706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3675888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3675888"/>
            <a:ext cx="64008" cy="8503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840480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34340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gross margin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3785616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379476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4700016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63840" y="4700016"/>
            <a:ext cx="64008" cy="8503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486460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536752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international mix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63072" y="48097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63072" y="4818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0" y="5769864"/>
            <a:ext cx="3730752" cy="1920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5751576"/>
            <a:ext cx="37307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Enterprise + runtime = 77% of 2031 revenue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accounts expand after the first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cohort model tracks retained and expanded annual recurring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ARR COHORT MULTIPLE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312664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2212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0.8x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510278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41883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1.1x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1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1.3x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05506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1406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1.6x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03120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1167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9024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808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M36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33271" y="4285609"/>
            <a:ext cx="2081785" cy="38514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15056" y="3772082"/>
            <a:ext cx="2081784" cy="51352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6840" y="3322746"/>
            <a:ext cx="2081784" cy="44933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4764" y="423531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46548" y="372179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8332" y="3272454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299356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1.42x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2023 cohort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33271" y="3964655"/>
            <a:ext cx="2081785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115056" y="3130174"/>
            <a:ext cx="2081784" cy="83448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96840" y="2424074"/>
            <a:ext cx="2081784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64764" y="39143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46548" y="30798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8332" y="23737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20948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1.70x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1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2024 cohort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149047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1499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60934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818120" y="160934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7739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27685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NRR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63072" y="171907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3072" y="1728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302666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18120" y="302666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31912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92%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69417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GRR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4443984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6634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How accounts grow</a:t>
            </a:r>
          </a:p>
        </p:txBody>
      </p:sp>
      <p:sp>
        <p:nvSpPr>
          <p:cNvPr id="60" name="Oval 59"/>
          <p:cNvSpPr/>
          <p:nvPr/>
        </p:nvSpPr>
        <p:spPr>
          <a:xfrm>
            <a:off x="8119872" y="50749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4" y="50017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builders</a:t>
            </a:r>
          </a:p>
        </p:txBody>
      </p:sp>
      <p:sp>
        <p:nvSpPr>
          <p:cNvPr id="62" name="Oval 61"/>
          <p:cNvSpPr/>
          <p:nvPr/>
        </p:nvSpPr>
        <p:spPr>
          <a:xfrm>
            <a:off x="8119872" y="53035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4464" y="52303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agents</a:t>
            </a:r>
          </a:p>
        </p:txBody>
      </p:sp>
      <p:sp>
        <p:nvSpPr>
          <p:cNvPr id="64" name="Oval 63"/>
          <p:cNvSpPr/>
          <p:nvPr/>
        </p:nvSpPr>
        <p:spPr>
          <a:xfrm>
            <a:off x="8119872" y="55321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54589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deployed workloads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742432"/>
            <a:ext cx="11000232" cy="21945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5769864"/>
            <a:ext cx="10561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1" i="0">
                <a:solidFill>
                  <a:srgbClr val="FFFFFF"/>
                </a:solidFill>
                <a:latin typeface="Arial"/>
              </a:rPr>
              <a:t>Retention is the main diligence gap. The cohort and retention data are estimates until the company provides actual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Lower model cost lifts gross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Enterprise contracts and lower compute cost improve contribution margin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GROSS-MARGIN EXPANSION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4352544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3728465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35%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104387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50%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480310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1856231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3270808"/>
            <a:ext cx="1115568" cy="7488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39" y="2771546"/>
            <a:ext cx="1115569" cy="49926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64408" y="2438704"/>
            <a:ext cx="1115568" cy="33284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79976" y="2230678"/>
            <a:ext cx="1115568" cy="208026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2980" y="3969410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98547" y="322051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14115" y="2721254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9684" y="23884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5252" y="218038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90149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14813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COMPUTE COST / SUCCESSFUL BUILD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65392" y="4352544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2648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65392" y="3728465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65392" y="3104387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2648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65392" y="2480310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65392" y="1856231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8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179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16668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910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65392" y="2133600"/>
            <a:ext cx="1202435" cy="776630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67827" y="2910230"/>
            <a:ext cx="1202437" cy="49926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70264" y="3409492"/>
            <a:ext cx="1202436" cy="33284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72700" y="3742334"/>
            <a:ext cx="1202436" cy="19415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515100" y="208330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17536" y="285993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19972" y="3359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22408" y="369204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24844" y="3886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63656" y="36073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6 mo.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Individual CAC payback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10127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7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340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34340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14 mo.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CAC payback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5916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4.2x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104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LTV /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820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820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Free cash flow turns positive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Higher gross margin pays for product, sales, and international growth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5495544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5404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-80%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4608576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451713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1" y="3721608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6301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2834639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19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" y="1947672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185623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9734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2228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4723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7217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2435504"/>
            <a:ext cx="1212495" cy="26609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245766" y="2258110"/>
            <a:ext cx="1212494" cy="1773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58260" y="2147239"/>
            <a:ext cx="1212495" cy="11087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70755" y="2080717"/>
            <a:ext cx="1212494" cy="6652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83249" y="2036368"/>
            <a:ext cx="1212495" cy="44349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2980" y="265130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95474" y="23852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7968" y="2207818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0463" y="2096947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32957" y="2030425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5452" y="198607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1707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61872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Gross margin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33271" y="3758803"/>
            <a:ext cx="1212495" cy="750841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45766" y="3404679"/>
            <a:ext cx="1212494" cy="35412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58260" y="3233775"/>
            <a:ext cx="1212495" cy="17090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70755" y="3124527"/>
            <a:ext cx="1212494" cy="109248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883249" y="3037375"/>
            <a:ext cx="1212495" cy="8715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82980" y="445935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95474" y="3708511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07968" y="335438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0463" y="31834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32957" y="3074235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45452" y="29870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70819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5059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Adj. op. margin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033271" y="3803509"/>
            <a:ext cx="1212495" cy="79142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45766" y="3420904"/>
            <a:ext cx="1212494" cy="38260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58260" y="3237471"/>
            <a:ext cx="1212495" cy="18343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70755" y="3119118"/>
            <a:ext cx="1212494" cy="1183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883249" y="3026816"/>
            <a:ext cx="1212495" cy="9230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2980" y="4544638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5474" y="3753217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07968" y="3370612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20463" y="3187179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32957" y="3068826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45452" y="2976524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84264" y="26976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31%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651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FCF margin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4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47104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6096" y="1627632"/>
            <a:ext cx="3968496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36992" y="19019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MARGIN DRIVERS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6992" y="2377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3C00"/>
                </a:solidFill>
                <a:latin typeface="Arial"/>
              </a:rPr>
              <a:t>+30 pts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3688" y="2404872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Gross-margin expansion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6992" y="307238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64D"/>
                </a:solidFill>
                <a:latin typeface="Arial"/>
              </a:rPr>
              <a:t>+11 pts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3099816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Sales productivity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36992" y="376732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5A2B"/>
                </a:solidFill>
                <a:latin typeface="Arial"/>
              </a:rPr>
              <a:t>+9 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3794760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G&amp;A efficiency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446227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350F"/>
                </a:solidFill>
                <a:latin typeface="Arial"/>
              </a:rPr>
              <a:t>(4) pts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33688" y="4489704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Ongoing R&amp;D reinvestment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936992" y="5230368"/>
            <a:ext cx="331012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936992" y="54132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Courier New"/>
              </a:rPr>
              <a:t>2028E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1664" y="539496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first full year of positive free cash 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 funds six programs with clear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$200M secondary purchase does not add cash to the company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PRIMARY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Model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842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1984248"/>
            <a:ext cx="3717234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57860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2578608"/>
            <a:ext cx="2703443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5420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User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7296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172968"/>
            <a:ext cx="2365513" cy="2743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13639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$140M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International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767327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767327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730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Talent and research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36168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361688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32511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377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Reserve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9560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4956048"/>
            <a:ext cx="675860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9194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$40M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8352" y="1572768"/>
            <a:ext cx="4206240" cy="4407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1993392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3C00"/>
                </a:solidFill>
                <a:latin typeface="Arial"/>
              </a:rPr>
              <a:t>$800M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615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company proceeds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310896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WHAT THE CAPITAL FUNDS</a:t>
            </a:r>
          </a:p>
        </p:txBody>
      </p:sp>
      <p:sp>
        <p:nvSpPr>
          <p:cNvPr id="38" name="Oval 37"/>
          <p:cNvSpPr/>
          <p:nvPr/>
        </p:nvSpPr>
        <p:spPr>
          <a:xfrm>
            <a:off x="7882127" y="356616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3493008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65% lower compute cost per successful build</a:t>
            </a:r>
          </a:p>
        </p:txBody>
      </p:sp>
      <p:sp>
        <p:nvSpPr>
          <p:cNvPr id="40" name="Oval 39"/>
          <p:cNvSpPr/>
          <p:nvPr/>
        </p:nvSpPr>
        <p:spPr>
          <a:xfrm>
            <a:off x="7882127" y="391363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84048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4,200 enterprise customers</a:t>
            </a:r>
          </a:p>
        </p:txBody>
      </p:sp>
      <p:sp>
        <p:nvSpPr>
          <p:cNvPr id="42" name="Oval 41"/>
          <p:cNvSpPr/>
          <p:nvPr/>
        </p:nvSpPr>
        <p:spPr>
          <a:xfrm>
            <a:off x="7882127" y="42611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4187952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Local infrastructure, sales, and compliance in Europe, India, and the Middle East</a:t>
            </a:r>
          </a:p>
        </p:txBody>
      </p:sp>
      <p:sp>
        <p:nvSpPr>
          <p:cNvPr id="44" name="Oval 43"/>
          <p:cNvSpPr/>
          <p:nvPr/>
        </p:nvSpPr>
        <p:spPr>
          <a:xfrm>
            <a:off x="7882127" y="460857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4535424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100M users and 5M paid users</a:t>
            </a:r>
          </a:p>
        </p:txBody>
      </p:sp>
      <p:sp>
        <p:nvSpPr>
          <p:cNvPr id="46" name="Oval 45"/>
          <p:cNvSpPr/>
          <p:nvPr/>
        </p:nvSpPr>
        <p:spPr>
          <a:xfrm>
            <a:off x="7882127" y="4956048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4882896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Model, security, product, and sales leaders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27848" y="5285232"/>
            <a:ext cx="3127248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54112" y="54132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5A2B"/>
                </a:solidFill>
                <a:latin typeface="Arial"/>
              </a:rPr>
              <a:t>$200M secondary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5422392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No cash to the company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Series E removes the cash constraint before the 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monthly model shows the funding date, cash floor, and target IPO window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ENDING CASH BY MONTH, $M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230368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138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469130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37769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$750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2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$1,500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46654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5521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$2,250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85416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9397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721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203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1684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3166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647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612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7610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Sep-30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0432" y="4236089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4012" y="4239963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07593" y="4243837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51173" y="4247711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94753" y="4251585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38333" y="4255458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81914" y="4259332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25494" y="4263206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9074" y="4267080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12654" y="4270954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56235" y="4274828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99815" y="4278702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43395" y="4259062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86975" y="4235548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330556" y="4212034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74136" y="418852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17716" y="4165006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61296" y="4141493"/>
            <a:ext cx="143581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04877" y="4117979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48457" y="4094465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92037" y="4070951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35617" y="4047437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79198" y="4023924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622778" y="400041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766358" y="394500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909938" y="3889607"/>
            <a:ext cx="143581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53519" y="3834206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197099" y="3778805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40679" y="3723404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484259" y="3668003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27840" y="3612601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71420" y="3557200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15000" y="350179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58580" y="3446398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02161" y="3390997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45741" y="3335595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89321" y="324137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32901" y="3147147"/>
            <a:ext cx="143581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776482" y="3052922"/>
            <a:ext cx="143580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20062" y="2958698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063642" y="2864474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207222" y="2770249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50803" y="2676025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494383" y="258180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637963" y="2487576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370064" y="21583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$2,702M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3327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61872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Base with Series E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320432" y="4236089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64012" y="4250831"/>
            <a:ext cx="143581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607593" y="4265574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51173" y="4280316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894753" y="4295058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38333" y="4309801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181914" y="4324543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325494" y="4339285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69074" y="4354028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12654" y="4368770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756235" y="4383512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899815" y="4398255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043395" y="4412997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186975" y="4418483"/>
            <a:ext cx="143581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330556" y="4423970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474136" y="4429456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617716" y="4434942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61296" y="4440429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04877" y="4445915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048457" y="4451402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192037" y="4456888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335617" y="4462375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479198" y="4467861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622778" y="4473347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766358" y="447623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909938" y="4473640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3519" y="447104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197099" y="446844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340679" y="446585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84259" y="4463254"/>
            <a:ext cx="143581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627840" y="446065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771420" y="445806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915000" y="445546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058580" y="4452867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202161" y="445027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345741" y="444767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489321" y="4432892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32901" y="4418111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76482" y="4403329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920062" y="4388548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063642" y="4373766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207222" y="4358984"/>
            <a:ext cx="143581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350803" y="4344203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494383" y="4329421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637963" y="4314640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370064" y="39854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$902M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5059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7919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Downside with Series 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33271" y="4974321"/>
            <a:ext cx="143581" cy="21653"/>
          </a:xfrm>
          <a:prstGeom prst="line">
            <a:avLst/>
          </a:prstGeom>
          <a:ln w="29209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65372" y="46667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8A5A3"/>
                </a:solidFill>
                <a:latin typeface="Arial"/>
              </a:rPr>
              <a:t>Below $250M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86791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09651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No Series 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3327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7685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2043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46401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60759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75117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89475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03833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18191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32549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46907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612654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5623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89981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04339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186975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33055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47413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1771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1296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90487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04845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19203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335617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47919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62277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76635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09938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05351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19709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4067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84259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62784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77142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91500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058580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20216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34574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8932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63290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77648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92006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06364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20722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35080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49438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63796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370064" y="464743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83200"/>
                </a:solidFill>
                <a:latin typeface="Arial"/>
              </a:rPr>
              <a:t>$250M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28523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51383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Minimum cash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76852" y="2185416"/>
            <a:ext cx="0" cy="3017520"/>
          </a:xfrm>
          <a:prstGeom prst="line">
            <a:avLst/>
          </a:prstGeom>
          <a:ln w="1397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250004" y="55321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B83200"/>
                </a:solidFill>
                <a:latin typeface="Arial"/>
              </a:rPr>
              <a:t>Nov-26 funding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781544" y="2185416"/>
            <a:ext cx="0" cy="3017520"/>
          </a:xfrm>
          <a:prstGeom prst="line">
            <a:avLst/>
          </a:prstGeom>
          <a:ln w="13970">
            <a:solidFill>
              <a:srgbClr val="FF3C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7068312" y="5532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1" i="0">
                <a:solidFill>
                  <a:srgbClr val="FF3C00"/>
                </a:solidFill>
                <a:latin typeface="Arial"/>
              </a:rPr>
              <a:t>H2-30 IPO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793992" y="157276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793992" y="158191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MONTHLY MODEL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321040" y="1572768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321040" y="1572768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549640" y="1737360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$274M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549640" y="22402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Cash at Sep-26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8630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8630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321040" y="2606039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8321040" y="2606039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549640" y="27706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Nov-26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549640" y="3273551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Below $250M without the round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863072" y="271576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863072" y="272491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321040" y="3639311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8321040" y="3639311"/>
            <a:ext cx="64008" cy="86868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549640" y="3803903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 round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49640" y="4306823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Further equity before IPO in base case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863072" y="3749039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863072" y="37581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1040" y="4672583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8321040" y="4672583"/>
            <a:ext cx="64008" cy="86868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549640" y="4837175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H2 2030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549640" y="5340096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Target IPO window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863072" y="478231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863072" y="4791455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321040" y="5733288"/>
            <a:ext cx="327355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21040" y="5760720"/>
            <a:ext cx="3273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The base and downside cases fund the company through the IPO target.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Founder-led product vision needs stronger 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next stage adds financial, enterprise, international, and board depth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RPL-LEADERSHIP-AMJAD | RPL-D-2026 | TECHCRUNCH-D-2026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46704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956816"/>
            <a:ext cx="1042415" cy="1042415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56816"/>
            <a:ext cx="1042415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26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Amjad Masad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03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Courier New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79392"/>
            <a:ext cx="24871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5C5C5"/>
                </a:solidFill>
                <a:latin typeface="Arial"/>
              </a:rPr>
              <a:t>Founder-led product conviction anchors the long-term mission: make software creation accessible to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404104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54132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093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SERIES E OPERATING MANDATE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Financial rigor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Segment ownership, forecasting cadence, and unit-economics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Scaled field leadership, partner motion, and customer-success depth.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Global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Regional product, infrastructure, compliance, and market leadership.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Add independent directors, audit systems, risk controls, security controls, and compensation processes.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614416"/>
            <a:ext cx="7296912" cy="34747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687568"/>
            <a:ext cx="6894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767270"/>
                </a:solidFill>
                <a:latin typeface="Arial"/>
              </a:rPr>
              <a:t>The round underwrites management-system scale without diluting founder-led product velocity.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main risks have owners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company tracks model cost, competition, security, sales conversion, and international delivery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RPL-REVIEW-2025 | RPL-SEC-DOC-2026 | RPL-SECURITY-AGENT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62179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1764792"/>
            <a:ext cx="8412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764792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94560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5915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Model dependency and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35915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Routing, Replit model training, capacity contracts, and usage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98064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9626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Competition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5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5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962656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Own the workflow, runtime, collaboration, and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01568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56616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Code quality and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5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5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35661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Automated testing, Security Agent, policy, audit logs, and human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05072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1696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Enterprise conversion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28415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5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169663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Product-led sales, field sales, partners, customer success, and governance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608576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77316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Revenue concentration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8415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8415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477316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 broad user base, low estimated account concentration, and global sales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212080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37667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International delivery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28415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8415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537667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Regional infrastructure, compliance, payments, and channel partners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24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6928"/>
            <a:ext cx="1387144" cy="3954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79024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9024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9555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1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Replit can become the default way
the world creates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Mass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50M+ users seed the enterprise funnel.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Integrated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Agent, workspace, cloud, and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Improving margins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Lower model cost and operating scale produce 76% gross margin.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Large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$250B TAM with several revenue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5175504"/>
            <a:ext cx="10771632" cy="7406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675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$1B Series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404104"/>
            <a:ext cx="7818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funds model training, user growth, enterprise sales, international expansion, and talent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Series E Investor Presentation</dc:title>
  <dc:subject>Illustrative late-stage financing materials based on public information</dc:subject>
  <dc:creator>Replit Series E materials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