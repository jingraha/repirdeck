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Sources: RPL-BRAND | MODEL-ESTIMATES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pic>
        <p:nvPicPr>
          <p:cNvPr id="5" name="Picture 4" descr="replit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1462125" cy="4168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469880" y="621792"/>
            <a:ext cx="960120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309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SERIES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86868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4200" b="1" i="0">
                <a:solidFill>
                  <a:srgbClr val="FFFFFF"/>
                </a:solidFill>
                <a:latin typeface="Arial"/>
              </a:rPr>
              <a:t>Build the software
the world is waiting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93592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5C5C5"/>
                </a:solidFill>
                <a:latin typeface="Arial"/>
              </a:rPr>
              <a:t>A $1B financing to scale the creation layer for software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$1.0B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Total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4727448"/>
            <a:ext cx="1078992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736592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ILLUSTRATIVE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207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6207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$20B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Pre-money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599" y="4727448"/>
            <a:ext cx="1078992" cy="228600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9" y="4736592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ILLUSTRATIVE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1091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1091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951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$800M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Primary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727448"/>
            <a:ext cx="1078992" cy="228600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4736592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ILLUSTRATIVE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51389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$1B to compound the category leader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Primary growth capital plus targeted stakeholder liquidity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RPL-C-2025 | RPL-D-2026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55448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1907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$1.0B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219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Total financing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664207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1673351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155448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63240" y="155448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71907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$800M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2219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Primary capital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664207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673351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297180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13639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$200M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393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Secondary liquidity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3081528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309067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297180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63240" y="297180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13639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4.8%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6393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Total buyer ownership
3.8% primary dilution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30815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30906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15727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VALUATION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193852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Mar-26 Series 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195681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1956816"/>
            <a:ext cx="1197032" cy="274320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33888" y="192024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$9.0B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267004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Series E pre-money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268833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98079" y="2688336"/>
            <a:ext cx="2660072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33888" y="265176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$20.0B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340156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Series E post-money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79" y="341985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98079" y="3419856"/>
            <a:ext cx="2766475" cy="274320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33888" y="338328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$20.8B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4361688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3C00"/>
                </a:solidFill>
                <a:latin typeface="Arial"/>
              </a:rPr>
              <a:t>2.2x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4165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step-up vs. March 2026 round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361688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492FF"/>
                </a:solidFill>
                <a:latin typeface="Arial"/>
              </a:rPr>
              <a:t>16.1x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441655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767270"/>
                </a:solidFill>
                <a:latin typeface="Arial"/>
              </a:rPr>
              <a:t>pre-money / 2027E revenue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102352"/>
            <a:ext cx="10954512" cy="877824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5340096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Primary: </a:t>
            </a:r>
            <a:r>
              <a:rPr sz="1100" b="0" i="0">
                <a:solidFill>
                  <a:srgbClr val="C5C5C5"/>
                </a:solidFill>
                <a:latin typeface="Arial"/>
              </a:rPr>
              <a:t>funds four growth engines and execution reserve</a:t>
            </a:r>
            <a:r>
              <a:rPr sz="1100" b="1" i="0">
                <a:solidFill>
                  <a:srgbClr val="FFFFFF"/>
                </a:solidFill>
                <a:latin typeface="Arial"/>
              </a:rPr>
              <a:t>   |   Secondary: </a:t>
            </a:r>
            <a:r>
              <a:rPr sz="1100" b="0" i="0">
                <a:solidFill>
                  <a:srgbClr val="C5C5C5"/>
                </a:solidFill>
                <a:latin typeface="Arial"/>
              </a:rPr>
              <a:t>targeted employee and early-holder liquidity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Replit is becoming the creation layer for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Five reinforcing advantages support durable category leadership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50M+ users create a global top-of-funnel that most enterprise platforms cannot replicate.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492FF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Full-stack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Agent, workspace, collaboration, deployment, and runtime live in one closed loop.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B199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Enterprise pull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Users from 85% of the Fortune 500 validate bottom-up demand inside large organizations.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87168" y="3456432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362102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28B5A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895344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Expanding economics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4261104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Model routing, workload density, and enterprise mix drive gross-margin expansion.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3456432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62102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12E2E"/>
                </a:solidFill>
                <a:latin typeface="Courier New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895344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Massive optionality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261104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Replit monetizes creators, professional teams, governed enterprises, and running software.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367528"/>
            <a:ext cx="11000232" cy="58521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046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The underwriting question is no longer whether AI changes software creation—it is who owns the complete creation-to-runtime loop.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Mass distribution is converting into an enterprise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Consumer-scale reach with expanding monetization and governance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TECHCRUNCH-D-2026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50M+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Registered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7832" y="1682495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69163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Fortune 500 presence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31152" y="1682495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169163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0100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$1.0B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 exit ARR goal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34472" y="1682495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34472" y="169163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MT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$650M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 revenue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2783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2783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9768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1,200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customers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3115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3115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0100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190+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Countries reached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3447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3447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727448"/>
            <a:ext cx="11000232" cy="121615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4882896"/>
            <a:ext cx="4114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From coding environment to software creation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DISTRIBUTION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ENTERPRISE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RUNTIME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32120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>
            <a:off x="6675120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922008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evron 53"/>
          <p:cNvSpPr/>
          <p:nvPr/>
        </p:nvSpPr>
        <p:spPr>
          <a:xfrm>
            <a:off x="8065008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11896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evron 55"/>
          <p:cNvSpPr/>
          <p:nvPr/>
        </p:nvSpPr>
        <p:spPr>
          <a:xfrm>
            <a:off x="9454896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701784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32120" y="555955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One monetization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Software creation expands from millions of developers to billions of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Replit translates intent into deployed software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4663440" cy="437083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3C00"/>
                </a:solidFill>
                <a:latin typeface="Arial"/>
              </a:rPr>
              <a:t>50M+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5234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creators today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" y="3374136"/>
            <a:ext cx="3749040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2688" y="3712463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5C5C5"/>
                </a:solidFill>
                <a:latin typeface="Courier New"/>
              </a:rPr>
              <a:t>REPLIT'S AMBITION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87368"/>
            <a:ext cx="36118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Billions turn intent
into working software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5272" y="1572768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52160" y="1755648"/>
            <a:ext cx="457200" cy="45720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7556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728216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Courier New"/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93392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Learn by building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5272" y="2651760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0" y="2834640"/>
            <a:ext cx="457200" cy="457200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80720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2492FF"/>
                </a:solidFill>
                <a:latin typeface="Courier New"/>
              </a:rPr>
              <a:t>FOUNDER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72384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Launch without a team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5272" y="3730752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52160" y="3913632"/>
            <a:ext cx="457200" cy="457200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3913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86200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FFB199"/>
                </a:solidFill>
                <a:latin typeface="Courier New"/>
              </a:rPr>
              <a:t>EMPLOYEE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51376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Automate the backlog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5272" y="4809744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52160" y="4992624"/>
            <a:ext cx="457200" cy="457200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49926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96519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228B5A"/>
                </a:solidFill>
                <a:latin typeface="Courier New"/>
              </a:rPr>
              <a:t>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230368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Govern creation at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5595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Intent</a:t>
            </a:r>
          </a:p>
        </p:txBody>
      </p:sp>
      <p:sp>
        <p:nvSpPr>
          <p:cNvPr id="36" name="Chevron 35"/>
          <p:cNvSpPr/>
          <p:nvPr/>
        </p:nvSpPr>
        <p:spPr>
          <a:xfrm>
            <a:off x="6601968" y="5541264"/>
            <a:ext cx="310896" cy="256032"/>
          </a:xfrm>
          <a:prstGeom prst="chevron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555955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Agentic creation</a:t>
            </a:r>
          </a:p>
        </p:txBody>
      </p:sp>
      <p:sp>
        <p:nvSpPr>
          <p:cNvPr id="38" name="Chevron 37"/>
          <p:cNvSpPr/>
          <p:nvPr/>
        </p:nvSpPr>
        <p:spPr>
          <a:xfrm>
            <a:off x="8613648" y="5541264"/>
            <a:ext cx="310896" cy="256032"/>
          </a:xfrm>
          <a:prstGeom prst="chevron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55595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Deployed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Software demand is unlimited; expert capacity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traditional stack fragments creation across scarce skills and disconnected tools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GITHUB-OCTOVERSE-2025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Translate need</a:t>
            </a:r>
          </a:p>
        </p:txBody>
      </p:sp>
      <p:sp>
        <p:nvSpPr>
          <p:cNvPr id="12" name="Chevron 11"/>
          <p:cNvSpPr/>
          <p:nvPr/>
        </p:nvSpPr>
        <p:spPr>
          <a:xfrm>
            <a:off x="2194560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41448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B199"/>
                </a:solidFill>
                <a:latin typeface="Courier New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Prototype</a:t>
            </a:r>
          </a:p>
        </p:txBody>
      </p:sp>
      <p:sp>
        <p:nvSpPr>
          <p:cNvPr id="16" name="Chevron 15"/>
          <p:cNvSpPr/>
          <p:nvPr/>
        </p:nvSpPr>
        <p:spPr>
          <a:xfrm>
            <a:off x="4041648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88536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2492FF"/>
                </a:solidFill>
                <a:latin typeface="Courier New"/>
              </a:rPr>
              <a:t>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Build</a:t>
            </a:r>
          </a:p>
        </p:txBody>
      </p:sp>
      <p:sp>
        <p:nvSpPr>
          <p:cNvPr id="20" name="Chevron 19"/>
          <p:cNvSpPr/>
          <p:nvPr/>
        </p:nvSpPr>
        <p:spPr>
          <a:xfrm>
            <a:off x="5888736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35624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228B5A"/>
                </a:solidFill>
                <a:latin typeface="Courier New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Validate</a:t>
            </a:r>
          </a:p>
        </p:txBody>
      </p:sp>
      <p:sp>
        <p:nvSpPr>
          <p:cNvPr id="24" name="Chevron 23"/>
          <p:cNvSpPr/>
          <p:nvPr/>
        </p:nvSpPr>
        <p:spPr>
          <a:xfrm>
            <a:off x="7735824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82712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312E2E"/>
                </a:solidFill>
                <a:latin typeface="Courier New"/>
              </a:rPr>
              <a:t>SECURE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Review</a:t>
            </a:r>
          </a:p>
        </p:txBody>
      </p:sp>
      <p:sp>
        <p:nvSpPr>
          <p:cNvPr id="28" name="Chevron 27"/>
          <p:cNvSpPr/>
          <p:nvPr/>
        </p:nvSpPr>
        <p:spPr>
          <a:xfrm>
            <a:off x="9582912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29800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4392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Operate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273552"/>
            <a:ext cx="11000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1818"/>
                </a:solidFill>
                <a:latin typeface="Arial"/>
              </a:rPr>
              <a:t>Every handoff introduces latency, translation loss, and another queue.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4360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6+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specialized tools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5000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79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83279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11879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7–12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79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cross-functional handoffs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3892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892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72200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4–12 wks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idea-to-production cycle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2784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784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61119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61119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9719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&lt;$1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19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cost to test an idea with agents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71676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1676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4360" y="5513832"/>
            <a:ext cx="11000232" cy="438912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614416"/>
            <a:ext cx="10561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67270"/>
                </a:solidFill>
                <a:latin typeface="Arial"/>
              </a:rPr>
              <a:t>The scarce resource is no longer code generation—it is coordinated progress from intent to a secure, running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One agentic cloud replaces the fragmented software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From idea to production in a single collaborative environment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RPL-ENT-DOC-2026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7543800" cy="60350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190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Intent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719072"/>
            <a:ext cx="5440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Natural language • Canvas • Team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2377440"/>
            <a:ext cx="7287768" cy="603504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523744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Agent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2523744"/>
            <a:ext cx="5184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Plan • Build • Test • Repair • 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3182112"/>
            <a:ext cx="7031736" cy="603504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3284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Workspace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3328416"/>
            <a:ext cx="49286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Code • Data • Collaboration • Versioning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" y="3986784"/>
            <a:ext cx="6775704" cy="603504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413308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Runtime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4133088"/>
            <a:ext cx="4672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Deploy • Compute • Databases • Observability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06424" y="4791456"/>
            <a:ext cx="6519672" cy="60350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937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Control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5224" y="4937760"/>
            <a:ext cx="4416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Identity • Governance • Policy •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22208" y="1572768"/>
            <a:ext cx="3072384" cy="3822191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14816" y="1847088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ONE CLOSED LOOP</a:t>
            </a:r>
          </a:p>
        </p:txBody>
      </p:sp>
      <p:sp>
        <p:nvSpPr>
          <p:cNvPr id="26" name="Oval 25"/>
          <p:cNvSpPr/>
          <p:nvPr/>
        </p:nvSpPr>
        <p:spPr>
          <a:xfrm>
            <a:off x="9592056" y="2359152"/>
            <a:ext cx="877824" cy="877824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92056" y="2359152"/>
            <a:ext cx="877824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Courier New"/>
              </a:rPr>
              <a:t>BUILD</a:t>
            </a:r>
          </a:p>
        </p:txBody>
      </p:sp>
      <p:sp>
        <p:nvSpPr>
          <p:cNvPr id="28" name="Oval 27"/>
          <p:cNvSpPr/>
          <p:nvPr/>
        </p:nvSpPr>
        <p:spPr>
          <a:xfrm>
            <a:off x="10707624" y="3136391"/>
            <a:ext cx="877824" cy="877824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07624" y="3136391"/>
            <a:ext cx="877824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Courier New"/>
              </a:rPr>
              <a:t>LEARN</a:t>
            </a:r>
          </a:p>
        </p:txBody>
      </p:sp>
      <p:sp>
        <p:nvSpPr>
          <p:cNvPr id="30" name="Oval 29"/>
          <p:cNvSpPr/>
          <p:nvPr/>
        </p:nvSpPr>
        <p:spPr>
          <a:xfrm>
            <a:off x="9592056" y="3931920"/>
            <a:ext cx="877824" cy="877824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92056" y="3931920"/>
            <a:ext cx="877824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Courier New"/>
              </a:rPr>
              <a:t>DEPLOY</a:t>
            </a:r>
          </a:p>
        </p:txBody>
      </p:sp>
      <p:sp>
        <p:nvSpPr>
          <p:cNvPr id="32" name="Oval 31"/>
          <p:cNvSpPr/>
          <p:nvPr/>
        </p:nvSpPr>
        <p:spPr>
          <a:xfrm>
            <a:off x="8458200" y="3136391"/>
            <a:ext cx="877824" cy="877824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136391"/>
            <a:ext cx="877824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Courier New"/>
              </a:rPr>
              <a:t>IMPROVE</a:t>
            </a:r>
          </a:p>
        </p:txBody>
      </p:sp>
      <p:sp>
        <p:nvSpPr>
          <p:cNvPr id="34" name="Oval 33"/>
          <p:cNvSpPr/>
          <p:nvPr/>
        </p:nvSpPr>
        <p:spPr>
          <a:xfrm>
            <a:off x="9619488" y="2889504"/>
            <a:ext cx="859536" cy="8595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19488" y="2889504"/>
            <a:ext cx="859536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Courier New"/>
              </a:rPr>
              <a:t>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623560"/>
            <a:ext cx="11000232" cy="338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696712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767270"/>
                </a:solidFill>
                <a:latin typeface="Arial"/>
              </a:rPr>
              <a:t>The platform captures both the creation workflow and the running workload—expanding monetization and improving the next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Agent 4 turns human intent into parallel, production-ready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A multi-agent workflow keeps users in the creative loop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RPL-AGENT4-2026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965960" cy="43891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HUMAN</a:t>
            </a:r>
          </a:p>
        </p:txBody>
      </p:sp>
      <p:sp>
        <p:nvSpPr>
          <p:cNvPr id="11" name="Oval 10"/>
          <p:cNvSpPr/>
          <p:nvPr/>
        </p:nvSpPr>
        <p:spPr>
          <a:xfrm>
            <a:off x="1170432" y="2359152"/>
            <a:ext cx="822960" cy="82296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35915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INTENT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593592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520440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Set direction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032504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959352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Review choices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471416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398264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Refine outcome</a:t>
            </a:r>
          </a:p>
        </p:txBody>
      </p:sp>
      <p:sp>
        <p:nvSpPr>
          <p:cNvPr id="19" name="Chevron 18"/>
          <p:cNvSpPr/>
          <p:nvPr/>
        </p:nvSpPr>
        <p:spPr>
          <a:xfrm>
            <a:off x="2706624" y="3401568"/>
            <a:ext cx="384048" cy="457200"/>
          </a:xfrm>
          <a:prstGeom prst="chevron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6276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PARALLEL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1993392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10712" y="2130552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0712" y="213969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2551176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Decompose requirements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483864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10712" y="3621024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363016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404164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Create product +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41848" y="1993392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06440" y="2130552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213969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551176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Run and repair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41848" y="3483864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06440" y="3621024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363016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SECURE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04164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Find and patch risk</a:t>
            </a:r>
          </a:p>
        </p:txBody>
      </p:sp>
      <p:sp>
        <p:nvSpPr>
          <p:cNvPr id="37" name="Chevron 36"/>
          <p:cNvSpPr/>
          <p:nvPr/>
        </p:nvSpPr>
        <p:spPr>
          <a:xfrm>
            <a:off x="8138160" y="3401568"/>
            <a:ext cx="384048" cy="457200"/>
          </a:xfrm>
          <a:prstGeom prst="chevron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50808" y="1572768"/>
            <a:ext cx="2843784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186537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492FF"/>
                </a:solidFill>
                <a:latin typeface="Courier New"/>
              </a:rPr>
              <a:t>OUTCOME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62288" y="2359152"/>
            <a:ext cx="2029968" cy="1225296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2359152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RUNNING
SOFTWARE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5168" y="3968496"/>
            <a:ext cx="1664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3C00"/>
                </a:solidFill>
                <a:latin typeface="Arial"/>
              </a:rPr>
              <a:t>Agent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434840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10x faster than Agent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56648" y="4937760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56648" y="494690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Customers trade weeks of coordination for hours of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Faster feedback compounds into better products and lower opportunity cost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RPL-CUST-UKG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TRADITIONAL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93392"/>
            <a:ext cx="7452360" cy="512064"/>
          </a:xfrm>
          <a:prstGeom prst="roundRect">
            <a:avLst>
              <a:gd name="adj" fmla="val 12000"/>
            </a:avLst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993392"/>
            <a:ext cx="1325880" cy="512064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2140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1993392"/>
            <a:ext cx="1234440" cy="51206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12140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Specify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1993392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12140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993392"/>
            <a:ext cx="1234440" cy="512064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212140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993392"/>
            <a:ext cx="1737360" cy="512064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12140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57400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81818"/>
                </a:solidFill>
                <a:latin typeface="Arial"/>
              </a:rPr>
              <a:t>4–12 weeks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69880" y="2093976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210312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9260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WITH REPLIT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282696"/>
            <a:ext cx="2057400" cy="5120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10712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rial"/>
              </a:rPr>
              <a:t>Prompt → review →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3346704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3C00"/>
                </a:solidFill>
                <a:latin typeface="Arial"/>
              </a:rPr>
              <a:t>hours to days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08576" y="3383280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339242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270248"/>
            <a:ext cx="5257800" cy="1316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450799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F3C00"/>
                </a:solidFill>
                <a:latin typeface="Arial"/>
              </a:rPr>
              <a:t>400%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4489704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increase in UKG's ability to gather product-led,
customer-driven feedback before engineering investment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5212080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522122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4270248"/>
            <a:ext cx="5440680" cy="1316736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50799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“Show, not tell.”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96519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5C5C5"/>
                </a:solidFill>
                <a:latin typeface="Arial"/>
              </a:rPr>
              <a:t>Product leaders turn rough concepts into functional prototypes before traditional handoffs begin.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Five structural shifts make this market inevitable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Capability, cost, labor, distribution, and governance have crossed adoption thresholds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GARTNER-AI-CODE-2024 | MS-WORK-TREND-2024 | GARTNER-CLOUD-2024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5056632" y="2331720"/>
            <a:ext cx="2011680" cy="2011680"/>
          </a:xfrm>
          <a:prstGeom prst="ellipse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6632" y="23317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ourier New"/>
              </a:rPr>
              <a:t>CREATION
INFLECTION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647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391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Capability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048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Agents plan, test, and repair across full applications.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7" y="16002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7647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492FF"/>
                </a:solidFill>
                <a:latin typeface="Courier New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0391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24048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Inference and routing costs decline as quality rises.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251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B199"/>
                </a:solidFill>
                <a:latin typeface="Courier New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99431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Labor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6519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Software demand compounds faster than engineering capacity.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7" y="416052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43251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28B5A"/>
                </a:solidFill>
                <a:latin typeface="Courier New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4599431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496519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Cloud creation reaches users outside traditional IDEs.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9392" y="48006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9651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12E2E"/>
                </a:solidFill>
                <a:latin typeface="Courier New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52395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56052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Identity, security, and policy make enterprise rollout viable.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87368" y="2267712"/>
            <a:ext cx="969264" cy="62179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068312" y="2267712"/>
            <a:ext cx="1042415" cy="62179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087368" y="4160520"/>
            <a:ext cx="1115568" cy="566928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6931152" y="4160520"/>
            <a:ext cx="1179575" cy="566928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025896" y="4343400"/>
            <a:ext cx="36576" cy="457200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Replit addresses a $250B creation and runtime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A bottom-up market model spans creators, teams, enterprises, and deployed workloads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EVANS-DEVELOPERS-2024 | IDC-DEVELOPER-2024 | IDC-KNOWLEDGE-2025 | GARTNER-CLOUD-2024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Individual creators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3C00"/>
                </a:solidFill>
                <a:latin typeface="Arial"/>
              </a:rPr>
              <a:t>$50B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78024" y="221284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22199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125M units × $400/yr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7" y="157276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173736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Enterprise business builders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1579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492FF"/>
                </a:solidFill>
                <a:latin typeface="Arial"/>
              </a:rPr>
              <a:t>$96B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221284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222199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69748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200M units × $480/yr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5584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Professional development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41063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B199"/>
                </a:solidFill>
                <a:latin typeface="Arial"/>
              </a:rPr>
              <a:t>$54B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78024" y="39959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8024" y="40050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45M units × $1,200/yr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5887" y="335584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352044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Agent and runtime workloads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3941063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12E2E"/>
                </a:solidFill>
                <a:latin typeface="Arial"/>
              </a:rPr>
              <a:t>$50B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9552" y="39959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9552" y="40050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448056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25M units × $2,000/yr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4848" y="1572768"/>
            <a:ext cx="4809744" cy="3264408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1993392"/>
            <a:ext cx="4023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900" b="1" i="0">
                <a:solidFill>
                  <a:srgbClr val="FF3C00"/>
                </a:solidFill>
                <a:latin typeface="Arial"/>
              </a:rPr>
              <a:t>$250B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78892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total addressable market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89520" y="3337560"/>
            <a:ext cx="3200400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60920" y="363931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92FF"/>
                </a:solidFill>
                <a:latin typeface="Arial"/>
              </a:rPr>
              <a:t>$90B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730752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5C5C5"/>
                </a:solidFill>
                <a:latin typeface="Arial"/>
              </a:rPr>
              <a:t>near-term SAM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79024" y="373075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79024" y="373989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EST.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84848" y="5065776"/>
            <a:ext cx="4809744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95744" y="5266944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3C00"/>
                </a:solidFill>
                <a:latin typeface="Arial"/>
              </a:rPr>
              <a:t>2.1%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532180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revenue as a share of TAM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303520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67270"/>
                </a:solidFill>
                <a:latin typeface="Arial"/>
              </a:rPr>
              <a:t>The market model is bottom-up; third-party category forecasts are used only as triangulation.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Replit is the only broad platform spanning intent, code, cloud,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Point tools optimize one step; Replit owns the complete build-to-run loop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RPL-AGENT4-2026 | RPL-ENT-DOC-2026 | CURSOR-D-2025 | ANTHROPIC-CLAUDE-CODE-2025 | LOVABLE-B-2025 | MSFT-FY25-Q4 | COGNITION-WINDSURF | V0-DOCS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0899648" cy="676656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Observable platform capability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645920"/>
            <a:ext cx="1499616" cy="53035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Replit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9784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AI 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App builders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Model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2952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Cloud suites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249424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43230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Natural language → full app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5196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8912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05856" y="2487168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43016" y="2487168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0176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96912" y="2487168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34071" y="2487168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71231" y="2487168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87968" y="24871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25128" y="24871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62288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79024" y="2487168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16184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53344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279806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298094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Full code control</a:t>
            </a:r>
          </a:p>
        </p:txBody>
      </p:sp>
      <p:sp>
        <p:nvSpPr>
          <p:cNvPr id="36" name="Oval 35"/>
          <p:cNvSpPr/>
          <p:nvPr/>
        </p:nvSpPr>
        <p:spPr>
          <a:xfrm>
            <a:off x="411480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5196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912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5856" y="3035808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43016" y="3035808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80176" y="3035808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296912" y="3035808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434071" y="3035808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71231" y="303580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8796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2512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6228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79024" y="3035808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16184" y="3035808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53344" y="3035808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" y="3346704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" y="352958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Real-time collaboration</a:t>
            </a:r>
          </a:p>
        </p:txBody>
      </p:sp>
      <p:sp>
        <p:nvSpPr>
          <p:cNvPr id="53" name="Oval 52"/>
          <p:cNvSpPr/>
          <p:nvPr/>
        </p:nvSpPr>
        <p:spPr>
          <a:xfrm>
            <a:off x="411480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5196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38912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705856" y="3584448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43016" y="3584448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980176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96912" y="3584448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434071" y="3584448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71231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887968" y="358444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025128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162288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479024" y="3584448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16184" y="3584448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753344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4360" y="389534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8" y="407822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Integrated cloud runtime</a:t>
            </a:r>
          </a:p>
        </p:txBody>
      </p:sp>
      <p:sp>
        <p:nvSpPr>
          <p:cNvPr id="70" name="Oval 69"/>
          <p:cNvSpPr/>
          <p:nvPr/>
        </p:nvSpPr>
        <p:spPr>
          <a:xfrm>
            <a:off x="411480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25196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38912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705856" y="4133087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843016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980176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296912" y="4133087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434071" y="4133087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571231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887968" y="413308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025128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162288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479024" y="4133087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616184" y="4133087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753344" y="4133087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4360" y="4443983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5528" y="462686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Enterprise governance</a:t>
            </a:r>
          </a:p>
        </p:txBody>
      </p:sp>
      <p:sp>
        <p:nvSpPr>
          <p:cNvPr id="87" name="Oval 86"/>
          <p:cNvSpPr/>
          <p:nvPr/>
        </p:nvSpPr>
        <p:spPr>
          <a:xfrm>
            <a:off x="411480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25196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38912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705856" y="4681727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843016" y="4681727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80176" y="4681727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296912" y="4681727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434071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571231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887968" y="468172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025128" y="468172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162288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479024" y="4681727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616184" y="4681727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753344" y="4681727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4360" y="499262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5528" y="517550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Consumer-scale distribution</a:t>
            </a:r>
          </a:p>
        </p:txBody>
      </p:sp>
      <p:sp>
        <p:nvSpPr>
          <p:cNvPr id="104" name="Oval 103"/>
          <p:cNvSpPr/>
          <p:nvPr/>
        </p:nvSpPr>
        <p:spPr>
          <a:xfrm>
            <a:off x="411480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25196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38912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05856" y="5230368"/>
            <a:ext cx="86868" cy="8686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843016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980176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296912" y="5230368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34071" y="5230368"/>
            <a:ext cx="86868" cy="8686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571231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887968" y="52303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025128" y="52303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162288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479024" y="5230368"/>
            <a:ext cx="86868" cy="8686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616184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753344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594360" y="5596128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41248" y="56692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67270"/>
                </a:solidFill>
                <a:latin typeface="Arial"/>
              </a:rPr>
              <a:t>Replit's structural advantage is breadth: the same environment acquires creators, coordinates agents, and runs governed software.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Revenue is scaling faster than the installed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Agent adoption and enterprise expansion create multiple monetization vectors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SACRA-2025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5422392"/>
            <a:ext cx="6949440" cy="0"/>
          </a:xfrm>
          <a:prstGeom prst="line">
            <a:avLst/>
          </a:prstGeom>
          <a:ln w="889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90016" y="5406948"/>
            <a:ext cx="566928" cy="15443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0016" y="5402315"/>
            <a:ext cx="566928" cy="4632"/>
          </a:xfrm>
          <a:prstGeom prst="rect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0016" y="5397682"/>
            <a:ext cx="566928" cy="4632"/>
          </a:xfrm>
          <a:prstGeom prst="rect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424" y="5141650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2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2023A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8255" y="5399227"/>
            <a:ext cx="566928" cy="23164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48255" y="5389961"/>
            <a:ext cx="566928" cy="9265"/>
          </a:xfrm>
          <a:prstGeom prst="rect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48255" y="5379151"/>
            <a:ext cx="566928" cy="10810"/>
          </a:xfrm>
          <a:prstGeom prst="rect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3663" y="5123119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$28M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2024A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6495" y="5275681"/>
            <a:ext cx="566928" cy="146710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6495" y="5221630"/>
            <a:ext cx="566928" cy="54051"/>
          </a:xfrm>
          <a:prstGeom prst="rect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6495" y="5159857"/>
            <a:ext cx="566928" cy="61772"/>
          </a:xfrm>
          <a:prstGeom prst="rect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1903" y="4903825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$170M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676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2025A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4736" y="4959096"/>
            <a:ext cx="566928" cy="463295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64736" y="4712004"/>
            <a:ext cx="566928" cy="247091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4736" y="4418584"/>
            <a:ext cx="566928" cy="293420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144" y="4162552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$650M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500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22976" y="4650232"/>
            <a:ext cx="566928" cy="772159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22976" y="4094276"/>
            <a:ext cx="566928" cy="555955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22976" y="3507435"/>
            <a:ext cx="566928" cy="586841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58384" y="3251403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$1,240M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1216" y="4341368"/>
            <a:ext cx="566928" cy="10810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81216" y="3337560"/>
            <a:ext cx="566928" cy="1003807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81216" y="2256536"/>
            <a:ext cx="566928" cy="1081024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6624" y="2000504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$2,050M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14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6276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Revenue by monetization engine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1636776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164592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1627632"/>
            <a:ext cx="3730752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863840" y="1627632"/>
            <a:ext cx="64008" cy="1197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1792224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73x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2295144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2024A–2028E revenue scale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63072" y="17373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63072" y="17465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63840" y="3026664"/>
            <a:ext cx="3730752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863840" y="3026664"/>
            <a:ext cx="64008" cy="1197864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3191256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100M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3694176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Registered users by 2028E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63072" y="313639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63072" y="3145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63840" y="4425696"/>
            <a:ext cx="3730752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863840" y="4425696"/>
            <a:ext cx="64008" cy="1197864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2440" y="4590288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$2.35B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5093208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2028E exit ARR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63072" y="45354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63072" y="45445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576986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Public anchor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19072" y="5751576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Management stated Replit was on track for $1B run-rate revenue by year-end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A diversified, low-concentration model is shifting toward enterprise 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Recurring subscriptions anchor revenue while usage captures customer value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RPL-PRICING-2026 | RPL-ENT-DOC-2026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93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MONETIZATION MIX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93392"/>
            <a:ext cx="6629400" cy="566928"/>
          </a:xfrm>
          <a:prstGeom prst="roundRect">
            <a:avLst>
              <a:gd name="adj" fmla="val 12000"/>
            </a:avLst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993392"/>
            <a:ext cx="4640579" cy="56692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34940" y="1993392"/>
            <a:ext cx="1988819" cy="566928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67128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70% recurring subscriptions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216712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30% usage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2148840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215798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5351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2026E REVENUE BY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Individual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355848"/>
            <a:ext cx="41148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0" y="3355848"/>
            <a:ext cx="3798276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$300M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77639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Enterprise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995927"/>
            <a:ext cx="41148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0" y="3995927"/>
            <a:ext cx="2025747" cy="274320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95935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$160M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1772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Usage &amp; deploy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636007"/>
            <a:ext cx="41148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4636007"/>
            <a:ext cx="2405575" cy="274320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59943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$190M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08392" y="1572768"/>
            <a:ext cx="3886200" cy="4398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91856" y="1847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GEOGRAPHIC MIX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2313432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10144" y="2313432"/>
            <a:ext cx="2215134" cy="20116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0144" y="2569463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United States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88168" y="2304288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Arial"/>
              </a:rPr>
              <a:t>57%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0144" y="2880360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10144" y="2880360"/>
            <a:ext cx="699516" cy="201168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0144" y="3136391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EMEA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88168" y="2871216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2492FF"/>
                </a:solidFill>
                <a:latin typeface="Arial"/>
              </a:rPr>
              <a:t>18%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0144" y="3447287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3447287"/>
            <a:ext cx="777240" cy="201168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0144" y="37033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APAC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88168" y="3438144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FB199"/>
                </a:solidFill>
                <a:latin typeface="Arial"/>
              </a:rPr>
              <a:t>20%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10144" y="4014215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10144" y="4014215"/>
            <a:ext cx="194310" cy="201168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10144" y="427024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Other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88168" y="4005072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8A5A3"/>
                </a:solidFill>
                <a:latin typeface="Arial"/>
              </a:rPr>
              <a:t>5%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10144" y="4727448"/>
            <a:ext cx="3264408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010144" y="5010912"/>
            <a:ext cx="749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3C00"/>
                </a:solidFill>
                <a:latin typeface="Arial"/>
              </a:rPr>
              <a:t>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507492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7270"/>
                </a:solidFill>
                <a:latin typeface="Arial"/>
              </a:rPr>
              <a:t>top-10 customer concentration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25912" y="5440680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25912" y="544982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Cohorts expand as teams move from prototypes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Estimated retention reflects growing workload depth and organizational adoption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ENTERPRISE ARR COHORT MULTIPLE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5312664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522122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0.8x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4510278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41883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1.1x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707891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61645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1.3x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905506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281406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1.6x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2103120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201167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1.8x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9024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0808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M36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33271" y="4285609"/>
            <a:ext cx="2081785" cy="385146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15056" y="3772082"/>
            <a:ext cx="2081784" cy="513527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196840" y="3322746"/>
            <a:ext cx="2081784" cy="449336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82980" y="4620463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64764" y="4235317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46548" y="3721790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8332" y="3272454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67144" y="299356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492FF"/>
                </a:solidFill>
                <a:latin typeface="Arial"/>
              </a:rPr>
              <a:t>1.42x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1" y="1783080"/>
            <a:ext cx="164592" cy="54864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1872" y="1719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2023 cohort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033271" y="3964655"/>
            <a:ext cx="2081785" cy="70610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115056" y="3130174"/>
            <a:ext cx="2081784" cy="83448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196840" y="2424074"/>
            <a:ext cx="2081784" cy="70610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82980" y="4620463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064764" y="3914363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46548" y="307988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28332" y="237378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67144" y="209489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1.70x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50591" y="1783080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9191" y="1719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2024 cohort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84848" y="149047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4848" y="149961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1609344"/>
            <a:ext cx="377647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818120" y="1609344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177393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138%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2276856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2026E enterprise NRR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63072" y="171907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63072" y="17282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18120" y="3026664"/>
            <a:ext cx="377647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818120" y="3026664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319125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92%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3694176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2026E enterprise GRR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863072" y="313639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63072" y="3145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18120" y="4443984"/>
            <a:ext cx="3776472" cy="11887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19872" y="466344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Expansion vectors</a:t>
            </a:r>
          </a:p>
        </p:txBody>
      </p:sp>
      <p:sp>
        <p:nvSpPr>
          <p:cNvPr id="60" name="Oval 59"/>
          <p:cNvSpPr/>
          <p:nvPr/>
        </p:nvSpPr>
        <p:spPr>
          <a:xfrm>
            <a:off x="8119872" y="50749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84464" y="50017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builders</a:t>
            </a:r>
          </a:p>
        </p:txBody>
      </p:sp>
      <p:sp>
        <p:nvSpPr>
          <p:cNvPr id="62" name="Oval 61"/>
          <p:cNvSpPr/>
          <p:nvPr/>
        </p:nvSpPr>
        <p:spPr>
          <a:xfrm>
            <a:off x="8119872" y="53035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84464" y="52303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agents</a:t>
            </a:r>
          </a:p>
        </p:txBody>
      </p:sp>
      <p:sp>
        <p:nvSpPr>
          <p:cNvPr id="64" name="Oval 63"/>
          <p:cNvSpPr/>
          <p:nvPr/>
        </p:nvSpPr>
        <p:spPr>
          <a:xfrm>
            <a:off x="8119872" y="55321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4464" y="54589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deployed workloads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742432"/>
            <a:ext cx="11000232" cy="21945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" y="5769864"/>
            <a:ext cx="10561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90" b="1" i="0">
                <a:solidFill>
                  <a:srgbClr val="FFFFFF"/>
                </a:solidFill>
                <a:latin typeface="Arial"/>
              </a:rPr>
              <a:t>Retention is the highest-priority diligence gap; all cohort and retention data shown here are modeled estimates pending company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Enterprise proof is moving from experimentation to operating leverage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Named customers demonstrate speed, collaboration, and measurable feedback gains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RPL-CUST-UKG | RPL-ENT-2026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4590288" cy="43891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56231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UKG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92807"/>
            <a:ext cx="1353312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901951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PUBLIC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578608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3C00"/>
                </a:solidFill>
                <a:latin typeface="Arial"/>
              </a:rPr>
              <a:t>400%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22783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increase in feedback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822191"/>
            <a:ext cx="3822191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5C5C5"/>
                </a:solidFill>
                <a:latin typeface="Arial"/>
              </a:rPr>
              <a:t>UKG embedded its design language into a reusable prototype framework, enabling product and UX teams to create functional AI prototypes in days—not weeks.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1389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199"/>
                </a:solidFill>
                <a:latin typeface="Arial"/>
              </a:rPr>
              <a:t>16,000+ employees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504688"/>
            <a:ext cx="3639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rapid prototyping • product development • internal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22976" y="1572768"/>
            <a:ext cx="6071616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15584" y="184708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Enterprise references</a:t>
            </a:r>
          </a:p>
        </p:txBody>
      </p:sp>
      <p:sp>
        <p:nvSpPr>
          <p:cNvPr id="20" name="Oval 19"/>
          <p:cNvSpPr/>
          <p:nvPr/>
        </p:nvSpPr>
        <p:spPr>
          <a:xfrm>
            <a:off x="5815584" y="2322576"/>
            <a:ext cx="128016" cy="128016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44184" y="23042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Atlassian</a:t>
            </a:r>
          </a:p>
        </p:txBody>
      </p:sp>
      <p:sp>
        <p:nvSpPr>
          <p:cNvPr id="22" name="Oval 21"/>
          <p:cNvSpPr/>
          <p:nvPr/>
        </p:nvSpPr>
        <p:spPr>
          <a:xfrm>
            <a:off x="7644383" y="2322576"/>
            <a:ext cx="128016" cy="128016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3042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PayPal</a:t>
            </a:r>
          </a:p>
        </p:txBody>
      </p:sp>
      <p:sp>
        <p:nvSpPr>
          <p:cNvPr id="24" name="Oval 23"/>
          <p:cNvSpPr/>
          <p:nvPr/>
        </p:nvSpPr>
        <p:spPr>
          <a:xfrm>
            <a:off x="9473184" y="2322576"/>
            <a:ext cx="128016" cy="128016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1784" y="23042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Zillow</a:t>
            </a:r>
          </a:p>
        </p:txBody>
      </p:sp>
      <p:sp>
        <p:nvSpPr>
          <p:cNvPr id="26" name="Oval 25"/>
          <p:cNvSpPr/>
          <p:nvPr/>
        </p:nvSpPr>
        <p:spPr>
          <a:xfrm>
            <a:off x="5815584" y="2871216"/>
            <a:ext cx="128016" cy="128016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44184" y="28529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Adobe</a:t>
            </a:r>
          </a:p>
        </p:txBody>
      </p:sp>
      <p:sp>
        <p:nvSpPr>
          <p:cNvPr id="28" name="Oval 27"/>
          <p:cNvSpPr/>
          <p:nvPr/>
        </p:nvSpPr>
        <p:spPr>
          <a:xfrm>
            <a:off x="7644383" y="2871216"/>
            <a:ext cx="128016" cy="128016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28529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Labcorp</a:t>
            </a:r>
          </a:p>
        </p:txBody>
      </p:sp>
      <p:sp>
        <p:nvSpPr>
          <p:cNvPr id="30" name="Oval 29"/>
          <p:cNvSpPr/>
          <p:nvPr/>
        </p:nvSpPr>
        <p:spPr>
          <a:xfrm>
            <a:off x="9473184" y="2871216"/>
            <a:ext cx="128016" cy="128016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28529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Talkdesk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3191256"/>
            <a:ext cx="132588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320040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NAMED BY REPLIT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22976" y="3904487"/>
            <a:ext cx="28803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4178808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Minnesota Vikings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7296" y="4654296"/>
            <a:ext cx="2240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Prototypes partnership ideas and saves staff time on game days.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0336" y="5532120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554126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14232" y="3904487"/>
            <a:ext cx="28803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88552" y="4178808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Zillow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88552" y="4654296"/>
            <a:ext cx="2240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Uses live collaboration with partners to turn immediate feedback into measurable product wins.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51592" y="5532120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51592" y="554126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Free creation acquires users; subscriptions, agents, and runtime monetize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A land-expand-deploy model aligns price with delivered value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RPL-PRICING-2026 | RPL-ENT-DOC-2026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6400800" cy="58521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947672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Acquire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1947672"/>
            <a:ext cx="39867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30" b="0" i="0">
                <a:solidFill>
                  <a:srgbClr val="FFFFFF"/>
                </a:solidFill>
                <a:latin typeface="Arial"/>
              </a:rPr>
              <a:t>50M+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569464"/>
            <a:ext cx="5760720" cy="585216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3405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734056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Convert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734056"/>
            <a:ext cx="33467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30" b="0" i="0">
                <a:solidFill>
                  <a:srgbClr val="FFFFFF"/>
                </a:solidFill>
                <a:latin typeface="Arial"/>
              </a:rPr>
              <a:t>plans + credits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3355848"/>
            <a:ext cx="5120640" cy="585216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5204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52044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520440"/>
            <a:ext cx="27066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30" b="0" i="0">
                <a:solidFill>
                  <a:srgbClr val="FFFFFF"/>
                </a:solidFill>
                <a:latin typeface="Arial"/>
              </a:rPr>
              <a:t>collaboration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79" y="4142232"/>
            <a:ext cx="4480560" cy="585216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59" y="4306824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30682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7" y="4306824"/>
            <a:ext cx="20665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30" b="0" i="0">
                <a:solidFill>
                  <a:srgbClr val="FFFFFF"/>
                </a:solidFill>
                <a:latin typeface="Arial"/>
              </a:rPr>
              <a:t>committed usage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19" y="4928616"/>
            <a:ext cx="3840480" cy="58521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5093207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39" y="5093207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Compound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7368" y="5093207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30" b="0" i="0">
                <a:solidFill>
                  <a:srgbClr val="FFFFFF"/>
                </a:solidFill>
                <a:latin typeface="Arial"/>
              </a:rPr>
              <a:t>deploy + operate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6096" y="1572768"/>
            <a:ext cx="3968496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1847088"/>
            <a:ext cx="3337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MONETIZATION VECTORS</a:t>
            </a:r>
          </a:p>
        </p:txBody>
      </p:sp>
      <p:sp>
        <p:nvSpPr>
          <p:cNvPr id="31" name="Oval 30"/>
          <p:cNvSpPr/>
          <p:nvPr/>
        </p:nvSpPr>
        <p:spPr>
          <a:xfrm>
            <a:off x="7982712" y="2304288"/>
            <a:ext cx="384048" cy="38404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2712" y="23042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229514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Subscription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2295144"/>
            <a:ext cx="1444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Access, features, collaboration</a:t>
            </a:r>
          </a:p>
        </p:txBody>
      </p:sp>
      <p:sp>
        <p:nvSpPr>
          <p:cNvPr id="35" name="Oval 34"/>
          <p:cNvSpPr/>
          <p:nvPr/>
        </p:nvSpPr>
        <p:spPr>
          <a:xfrm>
            <a:off x="7982712" y="3063240"/>
            <a:ext cx="384048" cy="384048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82712" y="3063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3054096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Agent usage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3054096"/>
            <a:ext cx="1444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Outcome-linked credits</a:t>
            </a:r>
          </a:p>
        </p:txBody>
      </p:sp>
      <p:sp>
        <p:nvSpPr>
          <p:cNvPr id="39" name="Oval 38"/>
          <p:cNvSpPr/>
          <p:nvPr/>
        </p:nvSpPr>
        <p:spPr>
          <a:xfrm>
            <a:off x="7982712" y="3822191"/>
            <a:ext cx="384048" cy="384048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82712" y="382219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81304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Enterprise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3813048"/>
            <a:ext cx="1444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Committed spend + governance</a:t>
            </a:r>
          </a:p>
        </p:txBody>
      </p:sp>
      <p:sp>
        <p:nvSpPr>
          <p:cNvPr id="43" name="Oval 42"/>
          <p:cNvSpPr/>
          <p:nvPr/>
        </p:nvSpPr>
        <p:spPr>
          <a:xfrm>
            <a:off x="7982712" y="4581144"/>
            <a:ext cx="384048" cy="384048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82712" y="45811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57200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Runtime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4572000"/>
            <a:ext cx="1444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Compute, database, deployment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79" y="5385816"/>
            <a:ext cx="3310128" cy="329184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79" y="5458968"/>
            <a:ext cx="3310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Price scales with customer success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Scale and model efficiency unlock software-like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Compute cost declines while higher-value enterprise mix improves contribution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SACRA-2025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GROSS-MARGIN EXPANSION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4352544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4261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3728465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6370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35%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104387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01294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50%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480310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238887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65%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1856231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176479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2025E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23944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33271" y="3270808"/>
            <a:ext cx="1115568" cy="74889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48839" y="2771546"/>
            <a:ext cx="1115569" cy="49926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64408" y="2438704"/>
            <a:ext cx="1115568" cy="33284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379976" y="2230678"/>
            <a:ext cx="1115568" cy="208026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2980" y="3969410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98547" y="322051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14115" y="2721254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29684" y="238841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45252" y="218038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4064" y="190149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71%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1481328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COMPUTE COST / SUCCESSFUL BUILD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65392" y="4352544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26480" y="4261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65392" y="3728465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0" y="36370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42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65392" y="3104387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26480" y="301294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65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65392" y="2480310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26480" y="238887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88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65392" y="1856231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126480" y="176479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59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2025E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1796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14232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16668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19104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565392" y="2133600"/>
            <a:ext cx="1202435" cy="776630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767827" y="2910230"/>
            <a:ext cx="1202437" cy="499262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970264" y="3409492"/>
            <a:ext cx="1202436" cy="332842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172700" y="3742334"/>
            <a:ext cx="1202436" cy="194157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515100" y="2083308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717536" y="2859938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919972" y="3359200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122408" y="3692042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324844" y="3886200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63656" y="360730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492FF"/>
                </a:solidFill>
                <a:latin typeface="Arial"/>
              </a:rPr>
              <a:t>35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36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6 mo.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Individual CAC payback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10127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10127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4340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34340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14 mo.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CAC payback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59168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59168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9244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9244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4.2x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2104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LTV / CAC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808208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808208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Product-led distribution creates an efficient path into the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Individual builders seed teams, workloads, and centrally governed deployments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RPL-ENT-2026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19</a:t>
            </a:r>
          </a:p>
        </p:txBody>
      </p:sp>
      <p:sp>
        <p:nvSpPr>
          <p:cNvPr id="9" name="Oval 8"/>
          <p:cNvSpPr/>
          <p:nvPr/>
        </p:nvSpPr>
        <p:spPr>
          <a:xfrm>
            <a:off x="1115568" y="1938528"/>
            <a:ext cx="1152144" cy="1152144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CREATE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2368296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Individual builder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Arial"/>
              </a:rPr>
              <a:t>FREE + PAID</a:t>
            </a:r>
          </a:p>
        </p:txBody>
      </p:sp>
      <p:sp>
        <p:nvSpPr>
          <p:cNvPr id="15" name="Oval 14"/>
          <p:cNvSpPr/>
          <p:nvPr/>
        </p:nvSpPr>
        <p:spPr>
          <a:xfrm>
            <a:off x="3346703" y="1938528"/>
            <a:ext cx="1152144" cy="1152144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3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SHARE</a:t>
            </a:r>
          </a:p>
        </p:txBody>
      </p:sp>
      <p:sp>
        <p:nvSpPr>
          <p:cNvPr id="17" name="Chevron 16"/>
          <p:cNvSpPr/>
          <p:nvPr/>
        </p:nvSpPr>
        <p:spPr>
          <a:xfrm>
            <a:off x="4599431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25496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Team adoption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4136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2492FF"/>
                </a:solidFill>
                <a:latin typeface="Arial"/>
              </a:rPr>
              <a:t>COLLABORATION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1938528"/>
            <a:ext cx="1152144" cy="1152144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DEPLOY</a:t>
            </a:r>
          </a:p>
        </p:txBody>
      </p:sp>
      <p:sp>
        <p:nvSpPr>
          <p:cNvPr id="23" name="Chevron 22"/>
          <p:cNvSpPr/>
          <p:nvPr/>
        </p:nvSpPr>
        <p:spPr>
          <a:xfrm>
            <a:off x="6830568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Business workload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5272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05272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B199"/>
                </a:solidFill>
                <a:latin typeface="Arial"/>
              </a:rPr>
              <a:t>USAGE</a:t>
            </a:r>
          </a:p>
        </p:txBody>
      </p:sp>
      <p:sp>
        <p:nvSpPr>
          <p:cNvPr id="27" name="Oval 26"/>
          <p:cNvSpPr/>
          <p:nvPr/>
        </p:nvSpPr>
        <p:spPr>
          <a:xfrm>
            <a:off x="7808976" y="1938528"/>
            <a:ext cx="1152144" cy="1152144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8976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GOVERN</a:t>
            </a:r>
          </a:p>
        </p:txBody>
      </p:sp>
      <p:sp>
        <p:nvSpPr>
          <p:cNvPr id="29" name="Chevron 28"/>
          <p:cNvSpPr/>
          <p:nvPr/>
        </p:nvSpPr>
        <p:spPr>
          <a:xfrm>
            <a:off x="9061704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7768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Enterprise standard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36408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36408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228B5A"/>
                </a:solidFill>
                <a:latin typeface="Arial"/>
              </a:rPr>
              <a:t>COMMITMENT</a:t>
            </a:r>
          </a:p>
        </p:txBody>
      </p:sp>
      <p:sp>
        <p:nvSpPr>
          <p:cNvPr id="33" name="Oval 32"/>
          <p:cNvSpPr/>
          <p:nvPr/>
        </p:nvSpPr>
        <p:spPr>
          <a:xfrm>
            <a:off x="10040112" y="1938528"/>
            <a:ext cx="1152144" cy="1152144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0112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EXPAND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18904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More teams + apps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67544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67544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312E2E"/>
                </a:solidFill>
                <a:latin typeface="Arial"/>
              </a:rPr>
              <a:t>NRR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43984"/>
            <a:ext cx="11000232" cy="149047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2744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PLG distribution lowers acquisition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472744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Enterprise sales monetizes organic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4727448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Runtime compounds expansion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78808" y="4663440"/>
            <a:ext cx="0" cy="978408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99831" y="4663440"/>
            <a:ext cx="0" cy="978408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96112" y="532180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Arial"/>
              </a:rPr>
              <a:t>50M+ user 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2272" y="532180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492FF"/>
                </a:solidFill>
                <a:latin typeface="Arial"/>
              </a:rPr>
              <a:t>Intent data → account prioritization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4152" y="532180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B199"/>
                </a:solidFill>
                <a:latin typeface="Arial"/>
              </a:rPr>
              <a:t>Apps + agents + compute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Pipeline depth supports the next phase of predictable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Coverage is strong; execution focus shifts to conversion and rep productivity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1579" y="1664208"/>
            <a:ext cx="6172200" cy="65836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7883" y="1856232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Qualified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9651" y="1837944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$880M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9144" y="2606040"/>
            <a:ext cx="3577070" cy="658368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5448" y="2798064"/>
            <a:ext cx="23883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Late-stage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2087" y="2779776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$510M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0531" y="3547872"/>
            <a:ext cx="2174297" cy="658368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6835" y="3739896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Weighted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0700" y="3721608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$310M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5877" y="4489704"/>
            <a:ext cx="1823604" cy="658368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2181" y="468172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New ARR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5354" y="4663440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$260M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39712" y="1700784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170992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6093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ENTERPRISE FUNNEL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62672" y="1572768"/>
            <a:ext cx="3931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62672" y="1572768"/>
            <a:ext cx="64008" cy="89611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91272" y="1737360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81818"/>
                </a:solidFill>
                <a:latin typeface="Arial"/>
              </a:rPr>
              <a:t>3.4x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2" y="22402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Pipeline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63072" y="1682495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63072" y="169163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62672" y="2642615"/>
            <a:ext cx="3931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62672" y="2642615"/>
            <a:ext cx="64008" cy="896112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91272" y="2807208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81818"/>
                </a:solidFill>
                <a:latin typeface="Arial"/>
              </a:rPr>
              <a:t>24%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2" y="3310127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Win 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863072" y="275234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63072" y="2761487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62672" y="3712463"/>
            <a:ext cx="3931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62672" y="3712463"/>
            <a:ext cx="64008" cy="896112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91272" y="3877055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81818"/>
                </a:solidFill>
                <a:latin typeface="Arial"/>
              </a:rPr>
              <a:t>78d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4379975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Median sales cycle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863072" y="3822191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63072" y="3831335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62672" y="4782312"/>
            <a:ext cx="3931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662672" y="4782312"/>
            <a:ext cx="64008" cy="896112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91272" y="4946903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81818"/>
                </a:solidFill>
                <a:latin typeface="Arial"/>
              </a:rPr>
              <a:t>64%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5449823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Quota attainment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63072" y="489204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63072" y="49011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559552"/>
            <a:ext cx="11000232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5650992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767270"/>
                </a:solidFill>
                <a:latin typeface="Arial"/>
              </a:rPr>
              <a:t>Execution focus: improve late-stage conversion, shorten security review, and lift productivity as the enterprise sales force matures.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Competition validates the category—but remains structurally fragmented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Replit differentiates through breadth, cloud runtime, collaboration, and distribution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CURSOR-D-2025 | ANTHROPIC-CLAUDE-CODE-2025 | LOVABLE-B-2025 | MSFT-FY25-Q4 | COGNITION-WINDSURF | V0-DOCS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4752" y="5468112"/>
            <a:ext cx="9482328" cy="0"/>
          </a:xfrm>
          <a:prstGeom prst="line">
            <a:avLst/>
          </a:prstGeom>
          <a:ln w="1397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44752" y="1719072"/>
            <a:ext cx="0" cy="3749040"/>
          </a:xfrm>
          <a:prstGeom prst="line">
            <a:avLst/>
          </a:prstGeom>
          <a:ln w="1397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532180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Point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9344"/>
            <a:ext cx="694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Full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561441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Professional developers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0112" y="561441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Everyone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3319272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Courier New"/>
              </a:rPr>
              <a:t>PLATFORM BREADTH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879592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Courier New"/>
              </a:rPr>
              <a:t>AUDIENCE BREADTH</a:t>
            </a:r>
          </a:p>
        </p:txBody>
      </p:sp>
      <p:sp>
        <p:nvSpPr>
          <p:cNvPr id="17" name="Oval 16"/>
          <p:cNvSpPr/>
          <p:nvPr/>
        </p:nvSpPr>
        <p:spPr>
          <a:xfrm>
            <a:off x="2971800" y="4443984"/>
            <a:ext cx="804672" cy="804672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444398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GitHub
Copilot</a:t>
            </a:r>
          </a:p>
        </p:txBody>
      </p:sp>
      <p:sp>
        <p:nvSpPr>
          <p:cNvPr id="19" name="Oval 18"/>
          <p:cNvSpPr/>
          <p:nvPr/>
        </p:nvSpPr>
        <p:spPr>
          <a:xfrm>
            <a:off x="2880360" y="3346704"/>
            <a:ext cx="804672" cy="804672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34670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Cursor /
Windsurf</a:t>
            </a:r>
          </a:p>
        </p:txBody>
      </p:sp>
      <p:sp>
        <p:nvSpPr>
          <p:cNvPr id="21" name="Oval 20"/>
          <p:cNvSpPr/>
          <p:nvPr/>
        </p:nvSpPr>
        <p:spPr>
          <a:xfrm>
            <a:off x="2157984" y="3730752"/>
            <a:ext cx="804672" cy="804672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7984" y="3730752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Claude
Code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3895344"/>
            <a:ext cx="804672" cy="804672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389534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Lovable /
Bolt / v0</a:t>
            </a:r>
          </a:p>
        </p:txBody>
      </p:sp>
      <p:sp>
        <p:nvSpPr>
          <p:cNvPr id="25" name="Oval 24"/>
          <p:cNvSpPr/>
          <p:nvPr/>
        </p:nvSpPr>
        <p:spPr>
          <a:xfrm>
            <a:off x="3246120" y="2084831"/>
            <a:ext cx="804672" cy="804672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084831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Cloud
suites</a:t>
            </a:r>
          </a:p>
        </p:txBody>
      </p:sp>
      <p:sp>
        <p:nvSpPr>
          <p:cNvPr id="27" name="Oval 26"/>
          <p:cNvSpPr/>
          <p:nvPr/>
        </p:nvSpPr>
        <p:spPr>
          <a:xfrm>
            <a:off x="8668512" y="1865376"/>
            <a:ext cx="1051560" cy="105156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1865376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Replit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7456" y="1572768"/>
            <a:ext cx="4517136" cy="4206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673352"/>
            <a:ext cx="42245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</a:rPr>
              <a:t>Replit: broad audience + complete creation-to-runtime stack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83496" y="4983480"/>
            <a:ext cx="153619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4992624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OBSERVABLE POSITIONING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Every successful build strengthens the next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Distribution, workflow data, runtime, ecosystem, and governance form a compounding moat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RPL-AGENT4-2026 | RPL-ENT-DOC-2026 | RPL-SEC-DOC-2026 | RPL-GOOGLE-2026 | RPL-MICROSOFT-2026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22</a:t>
            </a:r>
          </a:p>
        </p:txBody>
      </p:sp>
      <p:sp>
        <p:nvSpPr>
          <p:cNvPr id="9" name="Oval 8"/>
          <p:cNvSpPr/>
          <p:nvPr/>
        </p:nvSpPr>
        <p:spPr>
          <a:xfrm>
            <a:off x="5074920" y="2048256"/>
            <a:ext cx="2066543" cy="2066543"/>
          </a:xfrm>
          <a:prstGeom prst="ellipse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048256"/>
            <a:ext cx="2066543" cy="2066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urier New"/>
              </a:rPr>
              <a:t>MORE
SUCCESSFUL
BUILDS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572768"/>
            <a:ext cx="3493008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8" y="1792224"/>
            <a:ext cx="420624" cy="420624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7922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17556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103120"/>
            <a:ext cx="2331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50M+ users lower acquisition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572768"/>
            <a:ext cx="3493008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1792224"/>
            <a:ext cx="420624" cy="420624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7922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7556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Workflow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103120"/>
            <a:ext cx="2331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Plans, edits, tests, and repairs improve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24528"/>
            <a:ext cx="3493008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8" y="4443984"/>
            <a:ext cx="420624" cy="420624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4439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440740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6" y="4754880"/>
            <a:ext cx="2331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Deployed workloads expand monetization and feedback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4224528"/>
            <a:ext cx="3493008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02752" y="4443984"/>
            <a:ext cx="420624" cy="420624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44439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40740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Ecosystem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754880"/>
            <a:ext cx="2331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Enterprise systems make Replit more useful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864608"/>
            <a:ext cx="3493008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98848" y="5084064"/>
            <a:ext cx="420624" cy="420624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508406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65776" y="504748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65776" y="5394960"/>
            <a:ext cx="2331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Identity and policy increase switching cost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87368" y="2176272"/>
            <a:ext cx="987552" cy="722376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141464" y="2176272"/>
            <a:ext cx="960119" cy="722376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087368" y="4059936"/>
            <a:ext cx="1106424" cy="75895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7004304" y="4059936"/>
            <a:ext cx="1097279" cy="75895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44184" y="4114800"/>
            <a:ext cx="54864" cy="749808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The model is crossing from hypergrowth investment to operating leverage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Gross-margin expansion increasingly funds product and go-to-market scale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SACRA-2025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9344"/>
            <a:ext cx="7699248" cy="64008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10512"/>
            <a:ext cx="2441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Illustrative financials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81051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2023A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1051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2024A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181051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2025A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81051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2026E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49424"/>
            <a:ext cx="769924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441448"/>
            <a:ext cx="2441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44144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$16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44144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$28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244144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$170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44144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Arial"/>
              </a:rPr>
              <a:t>$650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889504"/>
            <a:ext cx="7699248" cy="64008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081528"/>
            <a:ext cx="2441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YoY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30815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0815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75%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4728" y="30815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507%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0815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Arial"/>
              </a:rPr>
              <a:t>282%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529584"/>
            <a:ext cx="769924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721608"/>
            <a:ext cx="2441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Gross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372160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-10%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372160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4728" y="372160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28%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72160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Arial"/>
              </a:rPr>
              <a:t>46%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169663"/>
            <a:ext cx="7699248" cy="64008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4361688"/>
            <a:ext cx="2441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Adj. op. income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43616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$-82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43616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$-109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24728" y="43616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$-207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43616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Arial"/>
              </a:rPr>
              <a:t>$-231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809744"/>
            <a:ext cx="769924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5001768"/>
            <a:ext cx="2441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Free cash 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848" y="500176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$-86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0288" y="500176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$-116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24728" y="500176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81818"/>
                </a:solidFill>
                <a:latin typeface="Arial"/>
              </a:rPr>
              <a:t>$-224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9168" y="500176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Arial"/>
              </a:rPr>
              <a:t>$-256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71816" y="5394960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71816" y="5404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66760" y="1609344"/>
            <a:ext cx="3227832" cy="37856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77656" y="1883664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INFLECTION</a:t>
            </a:r>
          </a:p>
        </p:txBody>
      </p:sp>
      <p:sp>
        <p:nvSpPr>
          <p:cNvPr id="49" name="Oval 48"/>
          <p:cNvSpPr/>
          <p:nvPr/>
        </p:nvSpPr>
        <p:spPr>
          <a:xfrm>
            <a:off x="8668512" y="2350008"/>
            <a:ext cx="402336" cy="402336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2" y="235000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7152" y="23317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Scale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17152" y="2578608"/>
            <a:ext cx="19385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Revenue absorbs fixed platform costs</a:t>
            </a:r>
          </a:p>
        </p:txBody>
      </p:sp>
      <p:sp>
        <p:nvSpPr>
          <p:cNvPr id="53" name="Oval 52"/>
          <p:cNvSpPr/>
          <p:nvPr/>
        </p:nvSpPr>
        <p:spPr>
          <a:xfrm>
            <a:off x="8668512" y="3227832"/>
            <a:ext cx="402336" cy="402336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68512" y="322783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7152" y="32095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Mix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17152" y="3456432"/>
            <a:ext cx="19385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Enterprise and runtime expand</a:t>
            </a:r>
          </a:p>
        </p:txBody>
      </p:sp>
      <p:sp>
        <p:nvSpPr>
          <p:cNvPr id="57" name="Oval 56"/>
          <p:cNvSpPr/>
          <p:nvPr/>
        </p:nvSpPr>
        <p:spPr>
          <a:xfrm>
            <a:off x="8668512" y="4105656"/>
            <a:ext cx="402336" cy="402336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68512" y="41056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17152" y="408736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Efficiency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17152" y="4334256"/>
            <a:ext cx="19385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Compute per successful build falls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59368" y="4956048"/>
            <a:ext cx="2633472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59368" y="4983480"/>
            <a:ext cx="2633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Gross margin: (10%) → 46%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" y="5632704"/>
            <a:ext cx="11000232" cy="329184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5696712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767270"/>
                </a:solidFill>
                <a:latin typeface="Arial"/>
              </a:rPr>
              <a:t>Public revenue disclosures are limited; the sourcebook documents the public anchors and all intervening analyst estimates.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base case reaches $5.3B revenue with durable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Enterprise and workload monetization become the majority of the business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5422392"/>
            <a:ext cx="6949440" cy="0"/>
          </a:xfrm>
          <a:prstGeom prst="line">
            <a:avLst/>
          </a:prstGeom>
          <a:ln w="889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90016" y="5242665"/>
            <a:ext cx="566928" cy="179726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0016" y="5146810"/>
            <a:ext cx="566928" cy="95854"/>
          </a:xfrm>
          <a:prstGeom prst="rect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0016" y="5032983"/>
            <a:ext cx="566928" cy="113827"/>
          </a:xfrm>
          <a:prstGeom prst="rect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424" y="477695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$650M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2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8255" y="5122847"/>
            <a:ext cx="566928" cy="29954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48255" y="4907174"/>
            <a:ext cx="566928" cy="215672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48255" y="4679520"/>
            <a:ext cx="566928" cy="227654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3663" y="4423488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$1,240M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6495" y="5003029"/>
            <a:ext cx="566928" cy="41936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6495" y="4613620"/>
            <a:ext cx="566928" cy="389408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6495" y="4194258"/>
            <a:ext cx="566928" cy="419362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1903" y="3938226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$2,050M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676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4736" y="4895193"/>
            <a:ext cx="566928" cy="52719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64736" y="4326057"/>
            <a:ext cx="566928" cy="569135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4736" y="3625123"/>
            <a:ext cx="566928" cy="700934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144" y="336909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$3,000M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500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22976" y="4793347"/>
            <a:ext cx="566928" cy="62904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22976" y="4014531"/>
            <a:ext cx="566928" cy="778816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22976" y="2966124"/>
            <a:ext cx="566928" cy="1048406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58384" y="2710092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$4,100M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2030E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1216" y="4703484"/>
            <a:ext cx="566928" cy="718907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81216" y="3714986"/>
            <a:ext cx="566928" cy="988497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81216" y="2277171"/>
            <a:ext cx="566928" cy="1437815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6624" y="2021139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$5,250M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14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2031E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62763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BASE-CASE REVENUE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1636776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164592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1627632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863840" y="1627632"/>
            <a:ext cx="64008" cy="8503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1792224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$5.25B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2295144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revenue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63072" y="17373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63072" y="17465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63840" y="2651760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863840" y="2651760"/>
            <a:ext cx="64008" cy="850392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2816352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52%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3319272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2026E–2031E CAGR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63072" y="2761488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63072" y="277063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63840" y="3675888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863840" y="3675888"/>
            <a:ext cx="64008" cy="850392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2440" y="3840480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76%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4343400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gross margin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63072" y="3785616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63072" y="379476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3840" y="4700016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863840" y="4700016"/>
            <a:ext cx="64008" cy="850392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4864608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52%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5367528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international mix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863072" y="480974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63072" y="4818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63840" y="5769864"/>
            <a:ext cx="3730752" cy="1920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63840" y="5751576"/>
            <a:ext cx="373075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Enterprise + runtime = 77% of 2031 revenue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Gross-margin expansion brings free-cash-flow breakeven within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Efficiency and mix offset continued investment in product and distribution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271" y="5495544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5404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-80%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271" y="4608576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451713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-40%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3271" y="3721608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36301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3271" y="2834639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74319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40%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3271" y="1947672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185623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9734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2228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4723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7217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2030E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2031E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33271" y="2435504"/>
            <a:ext cx="1212495" cy="26609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245766" y="2258110"/>
            <a:ext cx="1212494" cy="17739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458260" y="2147239"/>
            <a:ext cx="1212495" cy="11087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670755" y="2080717"/>
            <a:ext cx="1212494" cy="6652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883249" y="2036368"/>
            <a:ext cx="1212495" cy="44349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82980" y="265130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95474" y="238521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07968" y="2207818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20463" y="2096947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32957" y="2030425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45452" y="198607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84264" y="17071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76%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27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61872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Gross margin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1033271" y="3758803"/>
            <a:ext cx="1212495" cy="750841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245766" y="3404679"/>
            <a:ext cx="1212494" cy="354124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458260" y="3233775"/>
            <a:ext cx="1212495" cy="170904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670755" y="3124527"/>
            <a:ext cx="1212494" cy="109248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883249" y="3037375"/>
            <a:ext cx="1212495" cy="87152"/>
          </a:xfrm>
          <a:prstGeom prst="line">
            <a:avLst/>
          </a:prstGeom>
          <a:ln w="29209">
            <a:solidFill>
              <a:srgbClr val="249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982980" y="4459352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95474" y="3708511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07968" y="3354387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20463" y="3183483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32957" y="3074235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45452" y="2987083"/>
            <a:ext cx="100584" cy="100584"/>
          </a:xfrm>
          <a:prstGeom prst="ellipse">
            <a:avLst/>
          </a:prstGeom>
          <a:solidFill>
            <a:srgbClr val="249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84264" y="2708191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492FF"/>
                </a:solidFill>
                <a:latin typeface="Arial"/>
              </a:rPr>
              <a:t>31%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5059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79191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Adj. op. margin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1033271" y="3803509"/>
            <a:ext cx="1212495" cy="791421"/>
          </a:xfrm>
          <a:prstGeom prst="line">
            <a:avLst/>
          </a:prstGeom>
          <a:ln w="29209">
            <a:solidFill>
              <a:srgbClr val="FFB1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245766" y="3420904"/>
            <a:ext cx="1212494" cy="382605"/>
          </a:xfrm>
          <a:prstGeom prst="line">
            <a:avLst/>
          </a:prstGeom>
          <a:ln w="29209">
            <a:solidFill>
              <a:srgbClr val="FFB1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458260" y="3237471"/>
            <a:ext cx="1212495" cy="183433"/>
          </a:xfrm>
          <a:prstGeom prst="line">
            <a:avLst/>
          </a:prstGeom>
          <a:ln w="29209">
            <a:solidFill>
              <a:srgbClr val="FFB1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670755" y="3119118"/>
            <a:ext cx="1212494" cy="118353"/>
          </a:xfrm>
          <a:prstGeom prst="line">
            <a:avLst/>
          </a:prstGeom>
          <a:ln w="29209">
            <a:solidFill>
              <a:srgbClr val="FFB1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883249" y="3026816"/>
            <a:ext cx="1212495" cy="92302"/>
          </a:xfrm>
          <a:prstGeom prst="line">
            <a:avLst/>
          </a:prstGeom>
          <a:ln w="29209">
            <a:solidFill>
              <a:srgbClr val="FFB1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982980" y="4544638"/>
            <a:ext cx="100584" cy="100584"/>
          </a:xfrm>
          <a:prstGeom prst="ellipse">
            <a:avLst/>
          </a:prstGeom>
          <a:solidFill>
            <a:srgbClr val="FFB19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95474" y="3753217"/>
            <a:ext cx="100584" cy="100584"/>
          </a:xfrm>
          <a:prstGeom prst="ellipse">
            <a:avLst/>
          </a:prstGeom>
          <a:solidFill>
            <a:srgbClr val="FFB19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407968" y="3370612"/>
            <a:ext cx="100584" cy="100584"/>
          </a:xfrm>
          <a:prstGeom prst="ellipse">
            <a:avLst/>
          </a:prstGeom>
          <a:solidFill>
            <a:srgbClr val="FFB19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20463" y="3187179"/>
            <a:ext cx="100584" cy="100584"/>
          </a:xfrm>
          <a:prstGeom prst="ellipse">
            <a:avLst/>
          </a:prstGeom>
          <a:solidFill>
            <a:srgbClr val="FFB19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832957" y="3068826"/>
            <a:ext cx="100584" cy="100584"/>
          </a:xfrm>
          <a:prstGeom prst="ellipse">
            <a:avLst/>
          </a:prstGeom>
          <a:solidFill>
            <a:srgbClr val="FFB19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045452" y="2976524"/>
            <a:ext cx="100584" cy="100584"/>
          </a:xfrm>
          <a:prstGeom prst="ellipse">
            <a:avLst/>
          </a:prstGeom>
          <a:solidFill>
            <a:srgbClr val="FFB19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84264" y="269763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B199"/>
                </a:solidFill>
                <a:latin typeface="Arial"/>
              </a:rPr>
              <a:t>31%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96511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FCF margin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7104" y="1636776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47104" y="164592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26096" y="1627632"/>
            <a:ext cx="3968496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36992" y="19019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VALUE-CREATION BRIDGE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36992" y="2377440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3C00"/>
                </a:solidFill>
                <a:latin typeface="Arial"/>
              </a:rPr>
              <a:t>+30 pts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33688" y="2404872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Gross-margin expansion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36992" y="3072384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492FF"/>
                </a:solidFill>
                <a:latin typeface="Arial"/>
              </a:rPr>
              <a:t>+11 pts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33688" y="3099816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Sales productivity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36992" y="3767328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199"/>
                </a:solidFill>
                <a:latin typeface="Arial"/>
              </a:rPr>
              <a:t>+9 pts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33688" y="3794760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G&amp;A leverage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36992" y="4462272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8B5A"/>
                </a:solidFill>
                <a:latin typeface="Arial"/>
              </a:rPr>
              <a:t>(4) pts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33688" y="4489704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Ongoing R&amp;D reinvestment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936992" y="5230368"/>
            <a:ext cx="3310128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936992" y="5413248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Courier New"/>
              </a:rPr>
              <a:t>2028E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41664" y="539496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first full year of positive free cash flow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$800M of primary capital funds four measurable growth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$200M of secondary liquidity is separate from company proceeds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PRIMARY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Individual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98424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1984248"/>
            <a:ext cx="3730752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94767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$240M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2432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Model and infrastructure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642616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2642616"/>
            <a:ext cx="3730752" cy="274320"/>
          </a:xfrm>
          <a:prstGeom prst="roundRect">
            <a:avLst>
              <a:gd name="adj" fmla="val 12000"/>
            </a:avLst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60604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$240M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Enterprise expansion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300984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0" y="3300984"/>
            <a:ext cx="2798064" cy="274320"/>
          </a:xfrm>
          <a:prstGeom prst="roundRect">
            <a:avLst>
              <a:gd name="adj" fmla="val 12000"/>
            </a:avLst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3264408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$180M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41064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International expansion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959352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0" y="3959352"/>
            <a:ext cx="1554480" cy="274320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3922776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$100M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599431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Execution reserve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617719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4617719"/>
            <a:ext cx="621792" cy="274320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4581144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$40M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1984248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99339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88352" y="1572768"/>
            <a:ext cx="4206240" cy="4407408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54112" y="1993392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3C00"/>
                </a:solidFill>
                <a:latin typeface="Arial"/>
              </a:rPr>
              <a:t>$800M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261518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company proceeds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27848" y="3246120"/>
            <a:ext cx="3127248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54112" y="3621024"/>
            <a:ext cx="3474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B199"/>
                </a:solidFill>
                <a:latin typeface="Arial"/>
              </a:rPr>
              <a:t>$200M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418795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5C5C5"/>
                </a:solidFill>
                <a:latin typeface="Arial"/>
              </a:rPr>
              <a:t>targeted secondary liquidity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54112" y="475488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5C5C5"/>
                </a:solidFill>
                <a:latin typeface="Arial"/>
              </a:rPr>
              <a:t>Separate from use of proceeds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79" y="5212080"/>
            <a:ext cx="3072384" cy="31089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79" y="5276088"/>
            <a:ext cx="3072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Liquidity supports retention and ownership transition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This round finances the milestones required for public-market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Scale, retention, margins, governance, and international depth advance together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2889504"/>
            <a:ext cx="9985248" cy="0"/>
          </a:xfrm>
          <a:prstGeom prst="line">
            <a:avLst/>
          </a:prstGeom>
          <a:ln w="2540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673352" y="2395728"/>
            <a:ext cx="987552" cy="9875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73352" y="2395728"/>
            <a:ext cx="98755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2027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94176"/>
            <a:ext cx="2377440" cy="1591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5528" y="4041648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$1.24B revenue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443484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61688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2,400 enterprise customers</a:t>
            </a:r>
          </a:p>
        </p:txBody>
      </p:sp>
      <p:sp>
        <p:nvSpPr>
          <p:cNvPr id="17" name="Oval 16"/>
          <p:cNvSpPr/>
          <p:nvPr/>
        </p:nvSpPr>
        <p:spPr>
          <a:xfrm>
            <a:off x="795528" y="4828032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54880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58% GM</a:t>
            </a:r>
          </a:p>
        </p:txBody>
      </p:sp>
      <p:sp>
        <p:nvSpPr>
          <p:cNvPr id="19" name="Oval 18"/>
          <p:cNvSpPr/>
          <p:nvPr/>
        </p:nvSpPr>
        <p:spPr>
          <a:xfrm>
            <a:off x="4453128" y="2395728"/>
            <a:ext cx="987552" cy="987552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2395728"/>
            <a:ext cx="98755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2028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4136" y="3694176"/>
            <a:ext cx="2377440" cy="1591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75304" y="4041648"/>
            <a:ext cx="73152" cy="73152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9896" y="3968496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100M users</a:t>
            </a:r>
          </a:p>
        </p:txBody>
      </p:sp>
      <p:sp>
        <p:nvSpPr>
          <p:cNvPr id="24" name="Oval 23"/>
          <p:cNvSpPr/>
          <p:nvPr/>
        </p:nvSpPr>
        <p:spPr>
          <a:xfrm>
            <a:off x="3575304" y="4434840"/>
            <a:ext cx="73152" cy="73152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9896" y="4361688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$2.05B revenue</a:t>
            </a:r>
          </a:p>
        </p:txBody>
      </p:sp>
      <p:sp>
        <p:nvSpPr>
          <p:cNvPr id="26" name="Oval 25"/>
          <p:cNvSpPr/>
          <p:nvPr/>
        </p:nvSpPr>
        <p:spPr>
          <a:xfrm>
            <a:off x="3575304" y="4828032"/>
            <a:ext cx="73152" cy="73152"/>
          </a:xfrm>
          <a:prstGeom prst="ellipse">
            <a:avLst/>
          </a:prstGeom>
          <a:solidFill>
            <a:srgbClr val="24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9896" y="4754880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Positive FCF</a:t>
            </a:r>
          </a:p>
        </p:txBody>
      </p:sp>
      <p:sp>
        <p:nvSpPr>
          <p:cNvPr id="28" name="Oval 27"/>
          <p:cNvSpPr/>
          <p:nvPr/>
        </p:nvSpPr>
        <p:spPr>
          <a:xfrm>
            <a:off x="7232904" y="2395728"/>
            <a:ext cx="987552" cy="987552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2904" y="2395728"/>
            <a:ext cx="98755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2029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3912" y="3694176"/>
            <a:ext cx="2377440" cy="1591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55080" y="4041648"/>
            <a:ext cx="73152" cy="73152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3968496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$3.0B+ revenue</a:t>
            </a:r>
          </a:p>
        </p:txBody>
      </p:sp>
      <p:sp>
        <p:nvSpPr>
          <p:cNvPr id="33" name="Oval 32"/>
          <p:cNvSpPr/>
          <p:nvPr/>
        </p:nvSpPr>
        <p:spPr>
          <a:xfrm>
            <a:off x="6355080" y="4434840"/>
            <a:ext cx="73152" cy="73152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4361688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6,500 enterprise customers</a:t>
            </a:r>
          </a:p>
        </p:txBody>
      </p:sp>
      <p:sp>
        <p:nvSpPr>
          <p:cNvPr id="35" name="Oval 34"/>
          <p:cNvSpPr/>
          <p:nvPr/>
        </p:nvSpPr>
        <p:spPr>
          <a:xfrm>
            <a:off x="6355080" y="4828032"/>
            <a:ext cx="73152" cy="73152"/>
          </a:xfrm>
          <a:prstGeom prst="ellipse">
            <a:avLst/>
          </a:prstGeom>
          <a:solidFill>
            <a:srgbClr val="FFB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4754880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47% international</a:t>
            </a:r>
          </a:p>
        </p:txBody>
      </p:sp>
      <p:sp>
        <p:nvSpPr>
          <p:cNvPr id="37" name="Oval 36"/>
          <p:cNvSpPr/>
          <p:nvPr/>
        </p:nvSpPr>
        <p:spPr>
          <a:xfrm>
            <a:off x="10012680" y="2395728"/>
            <a:ext cx="987552" cy="987552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2395728"/>
            <a:ext cx="98755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2030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33688" y="3694176"/>
            <a:ext cx="2377440" cy="1591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34856" y="4041648"/>
            <a:ext cx="73152" cy="73152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9448" y="3968496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$4.1B revenue</a:t>
            </a:r>
          </a:p>
        </p:txBody>
      </p:sp>
      <p:sp>
        <p:nvSpPr>
          <p:cNvPr id="42" name="Oval 41"/>
          <p:cNvSpPr/>
          <p:nvPr/>
        </p:nvSpPr>
        <p:spPr>
          <a:xfrm>
            <a:off x="9134856" y="4434840"/>
            <a:ext cx="73152" cy="73152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9448" y="4361688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27% FCF margin</a:t>
            </a:r>
          </a:p>
        </p:txBody>
      </p:sp>
      <p:sp>
        <p:nvSpPr>
          <p:cNvPr id="44" name="Oval 43"/>
          <p:cNvSpPr/>
          <p:nvPr/>
        </p:nvSpPr>
        <p:spPr>
          <a:xfrm>
            <a:off x="9134856" y="4828032"/>
            <a:ext cx="73152" cy="73152"/>
          </a:xfrm>
          <a:prstGeom prst="ellipse">
            <a:avLst/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9448" y="4754880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81818"/>
                </a:solidFill>
                <a:latin typeface="Arial"/>
              </a:rPr>
              <a:t>IPO-ready controls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1572768"/>
            <a:ext cx="11000232" cy="43891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1673352"/>
            <a:ext cx="10561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 i="0">
                <a:solidFill>
                  <a:srgbClr val="FFFFFF"/>
                </a:solidFill>
                <a:latin typeface="Arial"/>
              </a:rPr>
              <a:t>Series E capital carries the company from hypergrowth proof to repeatable, public-market operating discipline.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81944" y="542239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81944" y="543153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Founder-led vision with an institutional mandate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next phase pairs product velocity with scaled operating discipline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RPL-LEADERSHIP-AMJAD | RPL-D-2026 | TECHCRUNCH-D-2026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346704" cy="43891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1956816"/>
            <a:ext cx="1042415" cy="1042415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56816"/>
            <a:ext cx="1042415" cy="1042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8269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Amjad Masad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7033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Courier New"/>
              </a:rPr>
              <a:t>Founder &amp; 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279392"/>
            <a:ext cx="24871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5C5C5"/>
                </a:solidFill>
                <a:latin typeface="Arial"/>
              </a:rPr>
              <a:t>Founder-led product conviction anchors the long-term mission: make software creation accessible to everyone.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5404104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54132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160934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SERIES E OPERATING MANDATE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020824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18541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96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Financial rigor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6207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Segment ownership, forecasting cadence, and unit-economics accountability.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39896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04487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492FF"/>
                </a:solidFill>
                <a:latin typeface="Courier New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1538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Enterprise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811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Scaled field leadership, partner motion, and customer-success depth.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2" y="2020824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218541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B199"/>
                </a:solidFill>
                <a:latin typeface="Courier New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496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Global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86207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Regional product, infrastructure, compliance, and market leadership.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2712" y="3739896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3904487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28B5A"/>
                </a:solidFill>
                <a:latin typeface="Courier New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421538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45811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Independent board depth, audit readiness, risk, security, and compensation systems.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5614416"/>
            <a:ext cx="7296912" cy="347472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5687568"/>
            <a:ext cx="68945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767270"/>
                </a:solidFill>
                <a:latin typeface="Arial"/>
              </a:rPr>
              <a:t>The round underwrites management-system scale without diluting founder-led product velocity.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The largest risks are visible, measurable, and actively mitigated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plan preserves strategic flexibility while building durable control points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RPL-REVIEW-2025 | RPL-SEC-DOC-2026 | RPL-SECURITY-AGENT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1000232" cy="62179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764792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5264" y="1764792"/>
            <a:ext cx="704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5384" y="1764792"/>
            <a:ext cx="704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Residual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1764792"/>
            <a:ext cx="6309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Mitigation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194560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359152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Model dependency &amp;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9836" y="23774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C3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9836" y="238658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9956" y="23774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9956" y="238658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2359152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Routing, proprietary training, capacity contracts, price-to-value controls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798064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962656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Category competition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59836" y="2980944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C3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59836" y="299008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9956" y="2980944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9956" y="299008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962656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Own full workflow, runtime, collaboration, and distribution—not one feature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401568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3566160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Code quality &amp; security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59836" y="3584448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C3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9836" y="3593591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19956" y="3584448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19956" y="3593591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4" y="3566160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Automated testing, Security Agent, policy, auditability, human 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005072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" y="4169663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Enterprise conversion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59836" y="4187952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59836" y="419709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19956" y="4187952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19956" y="419709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75504" y="4169663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Self-serve land, field overlay, partners, customer success, governance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4608576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" y="4773168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Growth concentration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59836" y="479145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9836" y="4800600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19956" y="479145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2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19956" y="4800600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75504" y="4773168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Diversified users, low estimated account concentration, global expansion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5212080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" y="5376672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International execution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59836" y="539496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59836" y="540410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19956" y="539496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19956" y="540410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75504" y="5376672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Regional infrastructure, compliance, payments, and channel partners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5888736"/>
            <a:ext cx="11000232" cy="7315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" y="5632704"/>
            <a:ext cx="10561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767270"/>
                </a:solidFill>
                <a:latin typeface="Arial"/>
              </a:rPr>
              <a:t>Underwriting stance: the plan assumes competition intensifies and compute remains strategic—not that either disappears.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Sources: RPL-D-2026 | MODEL-ESTIMATES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30</a:t>
            </a:r>
          </a:p>
        </p:txBody>
      </p:sp>
      <p:pic>
        <p:nvPicPr>
          <p:cNvPr id="5" name="Picture 4" descr="replit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66928"/>
            <a:ext cx="1387144" cy="3954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479024" y="621792"/>
            <a:ext cx="960120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9024" y="6309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SERIES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481328"/>
            <a:ext cx="9555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1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Replit can become the default way
the world creates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Mass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50M+ users seed the enterprise funnel.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492FF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Integrated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Agent, workspace, cloud, and governance.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B199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Expanding 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Scale and efficiency drive 76% gross margin.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28B5A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Large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$250B TAM with multiple monetization engines.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5175504"/>
            <a:ext cx="10771632" cy="7406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3675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$1B Series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5404104"/>
            <a:ext cx="7818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accelerates adoption, model capability, enterprise scale, and international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Replit Series E Investor Presentation</dc:title>
  <dc:subject>Illustrative late-stage financing materials based on public information</dc:subject>
  <dc:creator>Replit Series E materials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