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Sources: RPL-BRAND | MODEL-ESTIMATES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pic>
        <p:nvPicPr>
          <p:cNvPr id="5" name="Picture 4" descr="replit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1462125" cy="416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469880" y="621792"/>
            <a:ext cx="960120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69880" y="6309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SERIES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86868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Build and run software
from one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93592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5C5C5"/>
                </a:solidFill>
                <a:latin typeface="Arial"/>
              </a:rPr>
              <a:t>Series E financing | $1B raise | $20B pre-money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251960"/>
            <a:ext cx="1627632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261104"/>
            <a:ext cx="16276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C5C5C5"/>
                </a:solidFill>
                <a:latin typeface="Arial"/>
              </a:rPr>
              <a:t>ILLUSTRATIVE FINANCING CASE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$1.0B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Total raise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6207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$20B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Pre-money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0912" y="461772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0912" y="4617720"/>
            <a:ext cx="64008" cy="107899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9512" y="4782312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Arial"/>
              </a:rPr>
              <a:t>$800M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5285231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5C5C5"/>
                </a:solidFill>
                <a:latin typeface="Arial"/>
              </a:rPr>
              <a:t>Primary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51389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$1B funds the next stage of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$800M funds the company. $200M provides employee and early-investor liquidity.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RPL-C-2025 | RPL-D-2026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55448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$1.0B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219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Total financing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664207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167335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155448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63240" y="155448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71907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$800M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21991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Primary capital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664207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67335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297180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13639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$200M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393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Secondary liquidity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308152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309067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2971800"/>
            <a:ext cx="224028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63240" y="2971800"/>
            <a:ext cx="64008" cy="118872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136392"/>
            <a:ext cx="1874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4.8%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639312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Total buyer ownership
3.8% primary dilution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44568" y="30815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30906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15727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VALUATION 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193852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Mar-26 Series 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195681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1956816"/>
            <a:ext cx="1197032" cy="274320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33888" y="192024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$9.0B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267004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Series E pre-money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79" y="268833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98079" y="2688336"/>
            <a:ext cx="2660072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3888" y="265176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$20.0B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340156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Series E post-money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79" y="3419856"/>
            <a:ext cx="292608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98079" y="3419856"/>
            <a:ext cx="2766475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33888" y="338328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$20.8B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361688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3C00"/>
                </a:solidFill>
                <a:latin typeface="Arial"/>
              </a:rPr>
              <a:t>2.2x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4165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step-up vs. March 2026 round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361688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764D"/>
                </a:solidFill>
                <a:latin typeface="Arial"/>
              </a:rPr>
              <a:t>16.1x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4416552"/>
            <a:ext cx="1618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0" b="0" i="0">
                <a:solidFill>
                  <a:srgbClr val="767270"/>
                </a:solidFill>
                <a:latin typeface="Arial"/>
              </a:rPr>
              <a:t>pre-money / 2027E revenue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102352"/>
            <a:ext cx="10954512" cy="877824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5340096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Primary: </a:t>
            </a:r>
            <a:r>
              <a:rPr sz="950" b="0" i="0">
                <a:solidFill>
                  <a:srgbClr val="C5C5C5"/>
                </a:solidFill>
                <a:latin typeface="Arial"/>
              </a:rPr>
              <a:t>funds models, users, enterprise sales, international growth, and talent</a:t>
            </a:r>
            <a:r>
              <a:rPr sz="950" b="1" i="0">
                <a:solidFill>
                  <a:srgbClr val="FFFFFF"/>
                </a:solidFill>
                <a:latin typeface="Arial"/>
              </a:rPr>
              <a:t>   |   Secondary: </a:t>
            </a:r>
            <a:r>
              <a:rPr sz="950" b="0" i="0">
                <a:solidFill>
                  <a:srgbClr val="C5C5C5"/>
                </a:solidFill>
                <a:latin typeface="Arial"/>
              </a:rPr>
              <a:t>employee and early-investor liquidity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Five reasons to invest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Distribution, product depth, enterprise demand, unit economics, and market size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50M+ users give Replit a direct path to teams and enterprise accounts.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Full-stack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Agent, workspace, collaboration, deployment, and runtime are in one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72768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Enterprise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377440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Users from 85% of the Fortune 500 show demand inside large companies.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87168" y="3456432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362102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3895344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Improving margins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426110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Lower model cost and more enterprise revenue lift gross margin.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3456432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62102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2E2E"/>
                </a:solidFill>
                <a:latin typeface="Courier New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895344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Several revenue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261104"/>
            <a:ext cx="3090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Replit earns revenue from individuals, teams, enterprises, agents, and running apps.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367528"/>
            <a:ext cx="11000232" cy="58521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046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AI changes software creation. The key question is who owns the full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50M users create a direct path into enterprise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Public scale metrics and modeled financial estimates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TECHCRUNCH-D-2026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50M+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Registered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7832" y="1682495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7832" y="169163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Fortune 500 presence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31152" y="1682495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169163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572768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01000" y="1572768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737360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$1.0B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40280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exit ARR goal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34472" y="1682495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34472" y="169163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MT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revenue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2783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783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9768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1,200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customers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3115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3115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3054096"/>
            <a:ext cx="3364992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01000" y="3054096"/>
            <a:ext cx="64008" cy="124358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3218688"/>
            <a:ext cx="299923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81818"/>
                </a:solidFill>
                <a:latin typeface="Arial"/>
              </a:rPr>
              <a:t>190+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721608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Countries reached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34472" y="31638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34472" y="31729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4727448"/>
            <a:ext cx="11000232" cy="121615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6112" y="4882896"/>
            <a:ext cx="4114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One product from idea to running 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DISTRIBUTION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ENTERPRISE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488289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5C5C5"/>
                </a:solidFill>
                <a:latin typeface="Arial"/>
              </a:rPr>
              <a:t>RUNTIME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32120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6675120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22008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8065008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11896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evron 55"/>
          <p:cNvSpPr/>
          <p:nvPr/>
        </p:nvSpPr>
        <p:spPr>
          <a:xfrm>
            <a:off x="9454896" y="5239512"/>
            <a:ext cx="173736" cy="237744"/>
          </a:xfrm>
          <a:prstGeom prst="chevron">
            <a:avLst/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701784" y="5276088"/>
            <a:ext cx="1078992" cy="164592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32120" y="555955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One revenue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Replit expands software creation beyond professional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Students, founders, employees, and enterprises can build working software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4663440" cy="437083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3C00"/>
                </a:solidFill>
                <a:latin typeface="Arial"/>
              </a:rPr>
              <a:t>50M+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5234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creators today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3374136"/>
            <a:ext cx="3749040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3712463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C5C5C5"/>
                </a:solidFill>
                <a:latin typeface="Courier New"/>
              </a:rPr>
              <a:t>REPLIT'S AMBITION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87368"/>
            <a:ext cx="36118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Billions turn intent
into working 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5272" y="1572768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52160" y="1755648"/>
            <a:ext cx="457200" cy="45720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17556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728216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Courier New"/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993392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Learn by building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5272" y="2651760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0" y="2834640"/>
            <a:ext cx="457200" cy="457200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0720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Courier New"/>
              </a:rPr>
              <a:t>FOUNDER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72384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Launch without a 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3730752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52160" y="3913632"/>
            <a:ext cx="457200" cy="457200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3913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8620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D95A2B"/>
                </a:solidFill>
                <a:latin typeface="Courier New"/>
              </a:rPr>
              <a:t>EMPLOYEE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51376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Automate the backlog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5272" y="4809744"/>
            <a:ext cx="5989320" cy="859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52160" y="4992624"/>
            <a:ext cx="457200" cy="457200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49926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96519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9F350F"/>
                </a:solidFill>
                <a:latin typeface="Courier New"/>
              </a:rPr>
              <a:t>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230368"/>
            <a:ext cx="4297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1818"/>
                </a:solidFill>
                <a:latin typeface="Arial"/>
              </a:rPr>
              <a:t>Govern creation at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8338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Intent</a:t>
            </a:r>
          </a:p>
        </p:txBody>
      </p:sp>
      <p:sp>
        <p:nvSpPr>
          <p:cNvPr id="36" name="Chevron 35"/>
          <p:cNvSpPr/>
          <p:nvPr/>
        </p:nvSpPr>
        <p:spPr>
          <a:xfrm>
            <a:off x="6601968" y="5815584"/>
            <a:ext cx="310896" cy="256032"/>
          </a:xfrm>
          <a:prstGeom prst="chevron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583387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Agentic creation</a:t>
            </a:r>
          </a:p>
        </p:txBody>
      </p:sp>
      <p:sp>
        <p:nvSpPr>
          <p:cNvPr id="38" name="Chevron 37"/>
          <p:cNvSpPr/>
          <p:nvPr/>
        </p:nvSpPr>
        <p:spPr>
          <a:xfrm>
            <a:off x="8613648" y="5815584"/>
            <a:ext cx="310896" cy="256032"/>
          </a:xfrm>
          <a:prstGeom prst="chevron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70848" y="583387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Deployed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Software demand grows faster than engineering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current workflow requires many tools, teams, and handoffs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GITHUB-OCTOVERSE-2025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Translate need</a:t>
            </a:r>
          </a:p>
        </p:txBody>
      </p:sp>
      <p:sp>
        <p:nvSpPr>
          <p:cNvPr id="12" name="Chevron 11"/>
          <p:cNvSpPr/>
          <p:nvPr/>
        </p:nvSpPr>
        <p:spPr>
          <a:xfrm>
            <a:off x="2194560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41448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D95A2B"/>
                </a:solidFill>
                <a:latin typeface="Courier New"/>
              </a:rP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6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Prototype</a:t>
            </a:r>
          </a:p>
        </p:txBody>
      </p:sp>
      <p:sp>
        <p:nvSpPr>
          <p:cNvPr id="16" name="Chevron 15"/>
          <p:cNvSpPr/>
          <p:nvPr/>
        </p:nvSpPr>
        <p:spPr>
          <a:xfrm>
            <a:off x="4041648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88536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764D"/>
                </a:solidFill>
                <a:latin typeface="Courier New"/>
              </a:rPr>
              <a:t>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Build</a:t>
            </a:r>
          </a:p>
        </p:txBody>
      </p:sp>
      <p:sp>
        <p:nvSpPr>
          <p:cNvPr id="20" name="Chevron 19"/>
          <p:cNvSpPr/>
          <p:nvPr/>
        </p:nvSpPr>
        <p:spPr>
          <a:xfrm>
            <a:off x="5888736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35624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9F350F"/>
                </a:solidFill>
                <a:latin typeface="Courier New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Validate</a:t>
            </a:r>
          </a:p>
        </p:txBody>
      </p:sp>
      <p:sp>
        <p:nvSpPr>
          <p:cNvPr id="24" name="Chevron 23"/>
          <p:cNvSpPr/>
          <p:nvPr/>
        </p:nvSpPr>
        <p:spPr>
          <a:xfrm>
            <a:off x="7735824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82712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312E2E"/>
                </a:solidFill>
                <a:latin typeface="Courier New"/>
              </a:rPr>
              <a:t>SECURE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Review</a:t>
            </a:r>
          </a:p>
        </p:txBody>
      </p:sp>
      <p:sp>
        <p:nvSpPr>
          <p:cNvPr id="28" name="Chevron 27"/>
          <p:cNvSpPr/>
          <p:nvPr/>
        </p:nvSpPr>
        <p:spPr>
          <a:xfrm>
            <a:off x="9582912" y="2194560"/>
            <a:ext cx="182880" cy="310896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29800" y="1755648"/>
            <a:ext cx="1527048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4392" y="194767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233172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Operate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273552"/>
            <a:ext cx="11000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1818"/>
                </a:solidFill>
                <a:latin typeface="Arial"/>
              </a:rPr>
              <a:t>Every handoff introduces latency, translation loss, and another queue.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4360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6+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specialized tools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5000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000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79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83279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11879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7 to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79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cross-functional handoffs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3892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72200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4 to 12 wks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idea-to-production cycle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2784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784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61119" y="4005072"/>
            <a:ext cx="2487168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61119" y="4005072"/>
            <a:ext cx="64008" cy="128016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89719" y="4169663"/>
            <a:ext cx="212140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81818"/>
                </a:solidFill>
                <a:latin typeface="Arial"/>
              </a:rPr>
              <a:t>&lt;$1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19" y="4672583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cost to test an idea with agents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16768" y="411480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16768" y="4123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4360" y="5513832"/>
            <a:ext cx="11000232" cy="438912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614416"/>
            <a:ext cx="10561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767270"/>
                </a:solidFill>
                <a:latin typeface="Arial"/>
              </a:rPr>
              <a:t>The scarce resource is coordinated work from an idea to a secure, running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Replit puts the full software workflow in one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Users can plan, build, test, secure, deploy, and manage an app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RPL-ENT-DOC-2026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7543800" cy="60350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7190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Intent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719072"/>
            <a:ext cx="5440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Natural language • Canvas • Team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2377440"/>
            <a:ext cx="7287768" cy="60350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523744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Agent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2523744"/>
            <a:ext cx="5184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Plan • Build • Test • Repair • 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3182112"/>
            <a:ext cx="7031736" cy="60350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32841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Workspace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3328416"/>
            <a:ext cx="49286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Code • Data • Collaboration • Versioning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" y="3986784"/>
            <a:ext cx="6775704" cy="603504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413308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Runtime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4133088"/>
            <a:ext cx="4672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Deploy • Compute • Databases • Observability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06424" y="4791456"/>
            <a:ext cx="6519672" cy="60350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937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Control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5224" y="4937760"/>
            <a:ext cx="44165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Arial"/>
              </a:rPr>
              <a:t>Identity • Governance • Policy •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22208" y="1572768"/>
            <a:ext cx="3072384" cy="3822191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14816" y="1847088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ONE CLOSED LOOP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0049256" y="2660904"/>
            <a:ext cx="0" cy="768096"/>
          </a:xfrm>
          <a:prstGeom prst="line">
            <a:avLst/>
          </a:prstGeom>
          <a:ln w="1270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49256" y="3429000"/>
            <a:ext cx="960120" cy="0"/>
          </a:xfrm>
          <a:prstGeom prst="line">
            <a:avLst/>
          </a:prstGeom>
          <a:ln w="1270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49256" y="3429000"/>
            <a:ext cx="0" cy="996696"/>
          </a:xfrm>
          <a:prstGeom prst="line">
            <a:avLst/>
          </a:prstGeom>
          <a:ln w="1270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089136" y="3429000"/>
            <a:ext cx="960120" cy="0"/>
          </a:xfrm>
          <a:prstGeom prst="line">
            <a:avLst/>
          </a:prstGeom>
          <a:ln w="1270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720072" y="2331720"/>
            <a:ext cx="658368" cy="6583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20072" y="23317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 i="0">
                <a:solidFill>
                  <a:srgbClr val="FFFFFF"/>
                </a:solidFill>
                <a:latin typeface="Courier New"/>
              </a:rPr>
              <a:t>BUILD</a:t>
            </a:r>
          </a:p>
        </p:txBody>
      </p:sp>
      <p:sp>
        <p:nvSpPr>
          <p:cNvPr id="32" name="Oval 31"/>
          <p:cNvSpPr/>
          <p:nvPr/>
        </p:nvSpPr>
        <p:spPr>
          <a:xfrm>
            <a:off x="10680192" y="3099816"/>
            <a:ext cx="658368" cy="6583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80192" y="309981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 i="0">
                <a:solidFill>
                  <a:srgbClr val="FFFFFF"/>
                </a:solidFill>
                <a:latin typeface="Courier New"/>
              </a:rPr>
              <a:t>LEARN</a:t>
            </a:r>
          </a:p>
        </p:txBody>
      </p:sp>
      <p:sp>
        <p:nvSpPr>
          <p:cNvPr id="34" name="Oval 33"/>
          <p:cNvSpPr/>
          <p:nvPr/>
        </p:nvSpPr>
        <p:spPr>
          <a:xfrm>
            <a:off x="9720072" y="4096512"/>
            <a:ext cx="658368" cy="6583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20072" y="409651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 i="0">
                <a:solidFill>
                  <a:srgbClr val="FFFFFF"/>
                </a:solidFill>
                <a:latin typeface="Courier New"/>
              </a:rPr>
              <a:t>DEPLOY</a:t>
            </a:r>
          </a:p>
        </p:txBody>
      </p:sp>
      <p:sp>
        <p:nvSpPr>
          <p:cNvPr id="36" name="Oval 35"/>
          <p:cNvSpPr/>
          <p:nvPr/>
        </p:nvSpPr>
        <p:spPr>
          <a:xfrm>
            <a:off x="8759952" y="3099816"/>
            <a:ext cx="658368" cy="6583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9952" y="309981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" b="1" i="0">
                <a:solidFill>
                  <a:srgbClr val="FFFFFF"/>
                </a:solidFill>
                <a:latin typeface="Courier New"/>
              </a:rPr>
              <a:t>IMPROVE</a:t>
            </a:r>
          </a:p>
        </p:txBody>
      </p:sp>
      <p:sp>
        <p:nvSpPr>
          <p:cNvPr id="38" name="Oval 37"/>
          <p:cNvSpPr/>
          <p:nvPr/>
        </p:nvSpPr>
        <p:spPr>
          <a:xfrm>
            <a:off x="9710928" y="3090672"/>
            <a:ext cx="676656" cy="6766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0928" y="3090672"/>
            <a:ext cx="67665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Courier New"/>
              </a:rPr>
              <a:t>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623560"/>
            <a:ext cx="11000232" cy="338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696712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767270"/>
                </a:solidFill>
                <a:latin typeface="Arial"/>
              </a:rPr>
              <a:t>The product records the build workflow and the running workload. This data improves the next build.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Agent 4 plans, builds, tests, and deploys in parallel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user sets the goal and reviews the result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RPL-AGENT4-2026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965960" cy="43891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HUMAN</a:t>
            </a:r>
          </a:p>
        </p:txBody>
      </p:sp>
      <p:sp>
        <p:nvSpPr>
          <p:cNvPr id="11" name="Oval 10"/>
          <p:cNvSpPr/>
          <p:nvPr/>
        </p:nvSpPr>
        <p:spPr>
          <a:xfrm>
            <a:off x="1170432" y="2359152"/>
            <a:ext cx="822960" cy="82296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359152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INTENT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593592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520440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Set direction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032504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959352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Review choices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471416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398264"/>
            <a:ext cx="12527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Refine outcome</a:t>
            </a:r>
          </a:p>
        </p:txBody>
      </p:sp>
      <p:sp>
        <p:nvSpPr>
          <p:cNvPr id="19" name="Chevron 18"/>
          <p:cNvSpPr/>
          <p:nvPr/>
        </p:nvSpPr>
        <p:spPr>
          <a:xfrm>
            <a:off x="2706624" y="3401568"/>
            <a:ext cx="384048" cy="457200"/>
          </a:xfrm>
          <a:prstGeom prst="chevron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6276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PARALLEL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1993392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10712" y="2130552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0712" y="213969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551176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Decompose requirements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483864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10712" y="3621024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363016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404164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Create product +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41848" y="1993392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06440" y="2130552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139696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551176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Run and repair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41848" y="3483864"/>
            <a:ext cx="2075688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06440" y="3621024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3630168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SECURE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04164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Find and patch risk</a:t>
            </a:r>
          </a:p>
        </p:txBody>
      </p:sp>
      <p:sp>
        <p:nvSpPr>
          <p:cNvPr id="37" name="Chevron 36"/>
          <p:cNvSpPr/>
          <p:nvPr/>
        </p:nvSpPr>
        <p:spPr>
          <a:xfrm>
            <a:off x="8138160" y="3401568"/>
            <a:ext cx="384048" cy="457200"/>
          </a:xfrm>
          <a:prstGeom prst="chevron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50808" y="1572768"/>
            <a:ext cx="2843784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186537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OUTCOME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62288" y="2359152"/>
            <a:ext cx="2029968" cy="122529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2359152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Arial"/>
              </a:rPr>
              <a:t>RUNNING
SOFTWARE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5168" y="3968496"/>
            <a:ext cx="16642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3C00"/>
                </a:solidFill>
                <a:latin typeface="Arial"/>
              </a:rPr>
              <a:t>Agent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434840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10x faster than Agent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56648" y="4937760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6648" y="4946904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Customers build working software in days instead of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Faster prototypes reduce delay before an engineering team starts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RPL-CUST-UKG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TRADITIONAL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93392"/>
            <a:ext cx="7452360" cy="512064"/>
          </a:xfrm>
          <a:prstGeom prst="roundRect">
            <a:avLst>
              <a:gd name="adj" fmla="val 12000"/>
            </a:avLst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993392"/>
            <a:ext cx="1325880" cy="51206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1993392"/>
            <a:ext cx="1234440" cy="512064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12140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Specify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1993392"/>
            <a:ext cx="1920240" cy="5120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2140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993392"/>
            <a:ext cx="1234440" cy="5120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212140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993392"/>
            <a:ext cx="1737360" cy="512064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2140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57400"/>
            <a:ext cx="1508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81818"/>
                </a:solidFill>
                <a:latin typeface="Arial"/>
              </a:rPr>
              <a:t>4 to 12 weeks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9880" y="2093976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210312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9260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WITH REPLIT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282696"/>
            <a:ext cx="2057400" cy="5120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10712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FFFF"/>
                </a:solidFill>
                <a:latin typeface="Arial"/>
              </a:rPr>
              <a:t>Prompt → review →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3346704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3C00"/>
                </a:solidFill>
                <a:latin typeface="Arial"/>
              </a:rPr>
              <a:t>hours to days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08576" y="338328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339242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270248"/>
            <a:ext cx="5257800" cy="1316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4407408"/>
            <a:ext cx="1417320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165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EXAMPLE CUSTOMER: UKG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36592" y="4407408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4416552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PUBLIC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475488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3C00"/>
                </a:solidFill>
                <a:latin typeface="Arial"/>
              </a:rPr>
              <a:t>400%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477316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more customer feedback before engineering starts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3912" y="4270248"/>
            <a:ext cx="5440680" cy="1316736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507992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“Show, not tell.”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965192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C5C5C5"/>
                </a:solidFill>
                <a:latin typeface="Arial"/>
              </a:rPr>
              <a:t>Product leaders turn rough concepts into functional prototypes before traditional handoffs begin.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market is ready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Models work better, cost less, and meet more enterprise requirements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GARTNER-AI-CODE-2024 | MS-WORK-TREND-2024 | GARTNER-CLOUD-2024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5056632" y="2331720"/>
            <a:ext cx="2011680" cy="2011680"/>
          </a:xfrm>
          <a:prstGeom prst="ellipse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56632" y="23317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WHY
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6002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647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391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048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Agents plan, test, and repair across full applications.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7" y="16002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7647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7" y="20391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24048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Inference and routing costs decline as quality rises.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251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9431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Labor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6519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Software demand grows faster than engineering capacity.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0727" y="416052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432511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4599431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496519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Cloud creation reaches users outside traditional IDEs.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9392" y="4800600"/>
            <a:ext cx="3493008" cy="1335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4965192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312E2E"/>
                </a:solidFill>
                <a:latin typeface="Courier New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5239512"/>
            <a:ext cx="31272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5605272"/>
            <a:ext cx="3127248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7270"/>
                </a:solidFill>
                <a:latin typeface="Arial"/>
              </a:rPr>
              <a:t>Identity, security, and policy make enterprise rollout viable.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87368" y="2267712"/>
            <a:ext cx="969264" cy="62179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068312" y="2267712"/>
            <a:ext cx="1042415" cy="621792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087368" y="4160520"/>
            <a:ext cx="1115568" cy="566928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6931152" y="4160520"/>
            <a:ext cx="1179575" cy="566928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025896" y="4343400"/>
            <a:ext cx="36576" cy="457200"/>
          </a:xfrm>
          <a:prstGeom prst="line">
            <a:avLst/>
          </a:prstGeom>
          <a:ln w="1524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A $250B market supports several 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estimate covers individual users, business users, development teams, and running apps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EVANS-DEVELOPERS-2024 | IDC-DEVELOPER-2024 | IDC-KNOWLEDGE-2025 | GARTNER-CLOUD-2024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Individual creators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3C00"/>
                </a:solidFill>
                <a:latin typeface="Arial"/>
              </a:rPr>
              <a:t>$50B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78024" y="221284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22199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125M units × $400/yr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7" y="157276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8768" y="173736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Enterprise business builders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157984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764D"/>
                </a:solidFill>
                <a:latin typeface="Arial"/>
              </a:rPr>
              <a:t>$96B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221284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59552" y="2221991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69748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200M units × $480/yr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5584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Professional development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41063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95A2B"/>
                </a:solidFill>
                <a:latin typeface="Arial"/>
              </a:rPr>
              <a:t>$54B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78024" y="39959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8024" y="40050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45M units × $1,200/yr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5887" y="3355848"/>
            <a:ext cx="2798064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3520440"/>
            <a:ext cx="2395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Agent and runtime workloads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3941063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12E2E"/>
                </a:solidFill>
                <a:latin typeface="Arial"/>
              </a:rPr>
              <a:t>$50B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9552" y="3995928"/>
            <a:ext cx="71323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2" y="4005072"/>
            <a:ext cx="71323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DERIVED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4480560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67270"/>
                </a:solidFill>
                <a:latin typeface="Arial"/>
              </a:rPr>
              <a:t>25M units × $2,000/yr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84848" y="1572768"/>
            <a:ext cx="4809744" cy="326440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1993392"/>
            <a:ext cx="4023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900" b="1" i="0">
                <a:solidFill>
                  <a:srgbClr val="FF3C00"/>
                </a:solidFill>
                <a:latin typeface="Arial"/>
              </a:rPr>
              <a:t>$250B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78892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total addressable market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89520" y="3337560"/>
            <a:ext cx="3200400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60920" y="363931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764D"/>
                </a:solidFill>
                <a:latin typeface="Arial"/>
              </a:rPr>
              <a:t>$90B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73075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5C5C5"/>
                </a:solidFill>
                <a:latin typeface="Arial"/>
              </a:rPr>
              <a:t>near-term SAM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79024" y="373075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79024" y="373989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Replit covers more of the workflow than point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product connects app creation, code control, cloud runtime, collaboration, and governance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RPL-AGENT4-2026 | RPL-ENT-DOC-2026 | CURSOR-D-2025 | ANTHROPIC-CLAUDE-CODE-2025 | LOVABLE-B-2025 | MSFT-FY25-Q4 | COGNITION-WINDSURF | V0-DOCS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0899648" cy="676656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83080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Observable platform capability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645920"/>
            <a:ext cx="1499616" cy="5303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Replit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9784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AI 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App builders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Model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2952" y="1783080"/>
            <a:ext cx="1591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Cloud suites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249424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43230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Natural language → full app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5196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89120" y="24871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05856" y="248716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43016" y="248716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80176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96912" y="24871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34071" y="24871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71231" y="24871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87968" y="24871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25128" y="24871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62288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79024" y="248716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16184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53344" y="24871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279806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298094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Full code control</a:t>
            </a:r>
          </a:p>
        </p:txBody>
      </p:sp>
      <p:sp>
        <p:nvSpPr>
          <p:cNvPr id="36" name="Oval 35"/>
          <p:cNvSpPr/>
          <p:nvPr/>
        </p:nvSpPr>
        <p:spPr>
          <a:xfrm>
            <a:off x="411480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5196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9120" y="303580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5856" y="303580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43016" y="303580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80176" y="303580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96912" y="303580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434071" y="303580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71231" y="303580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8796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2512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162288" y="303580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79024" y="303580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16184" y="303580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753344" y="303580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" y="3346704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" y="352958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Real-time collaboration</a:t>
            </a:r>
          </a:p>
        </p:txBody>
      </p:sp>
      <p:sp>
        <p:nvSpPr>
          <p:cNvPr id="53" name="Oval 52"/>
          <p:cNvSpPr/>
          <p:nvPr/>
        </p:nvSpPr>
        <p:spPr>
          <a:xfrm>
            <a:off x="411480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5196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389120" y="358444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05856" y="358444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43016" y="358444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80176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96912" y="358444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434071" y="358444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571231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887968" y="358444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025128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162288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479024" y="358444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616184" y="358444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753344" y="358444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4360" y="389534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" y="407822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Integrated cloud runtime</a:t>
            </a:r>
          </a:p>
        </p:txBody>
      </p:sp>
      <p:sp>
        <p:nvSpPr>
          <p:cNvPr id="70" name="Oval 69"/>
          <p:cNvSpPr/>
          <p:nvPr/>
        </p:nvSpPr>
        <p:spPr>
          <a:xfrm>
            <a:off x="411480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25196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389120" y="413308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705856" y="413308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843016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980176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296912" y="4133087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434071" y="4133087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71231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887968" y="413308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025128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162288" y="413308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479024" y="413308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616184" y="413308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753344" y="413308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94360" y="4443983"/>
            <a:ext cx="1089964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5528" y="462686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Enterprise governance</a:t>
            </a:r>
          </a:p>
        </p:txBody>
      </p:sp>
      <p:sp>
        <p:nvSpPr>
          <p:cNvPr id="87" name="Oval 86"/>
          <p:cNvSpPr/>
          <p:nvPr/>
        </p:nvSpPr>
        <p:spPr>
          <a:xfrm>
            <a:off x="411480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25196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389120" y="4681727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705856" y="468172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843016" y="468172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80176" y="4681727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296912" y="4681727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434071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571231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887968" y="468172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25128" y="4681727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162288" y="4681727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479024" y="468172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616184" y="468172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753344" y="4681727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4360" y="4992624"/>
            <a:ext cx="10899648" cy="54864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5528" y="5175504"/>
            <a:ext cx="2624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Consumer-scale distribution</a:t>
            </a:r>
          </a:p>
        </p:txBody>
      </p:sp>
      <p:sp>
        <p:nvSpPr>
          <p:cNvPr id="104" name="Oval 103"/>
          <p:cNvSpPr/>
          <p:nvPr/>
        </p:nvSpPr>
        <p:spPr>
          <a:xfrm>
            <a:off x="411480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25196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389120" y="5230368"/>
            <a:ext cx="86868" cy="86868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5705856" y="5230368"/>
            <a:ext cx="86868" cy="86868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843016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980176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296912" y="52303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34071" y="5230368"/>
            <a:ext cx="86868" cy="86868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571231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887968" y="52303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025128" y="5230368"/>
            <a:ext cx="86868" cy="86868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162288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479024" y="5230368"/>
            <a:ext cx="86868" cy="86868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616184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753344" y="5230368"/>
            <a:ext cx="86868" cy="86868"/>
          </a:xfrm>
          <a:prstGeom prst="ellipse">
            <a:avLst/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594360" y="5596128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41248" y="5669280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67270"/>
                </a:solidFill>
                <a:latin typeface="Arial"/>
              </a:rPr>
              <a:t>Replit covers more steps. One product brings in users, coordinates agents, and runs governed software.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Revenue grows across three distinct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Stacked bars show individual, enterprise, and agent usage revenue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5422392"/>
            <a:ext cx="6949440" cy="0"/>
          </a:xfrm>
          <a:prstGeom prst="line">
            <a:avLst/>
          </a:prstGeom>
          <a:ln w="889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90016" y="5408249"/>
            <a:ext cx="566928" cy="14142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0016" y="5404006"/>
            <a:ext cx="566928" cy="4242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016" y="5399763"/>
            <a:ext cx="566928" cy="4242"/>
          </a:xfrm>
          <a:prstGeom prst="rect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424" y="5143731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2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2023A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8255" y="5401177"/>
            <a:ext cx="566928" cy="21214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8255" y="5392692"/>
            <a:ext cx="566928" cy="8485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48255" y="5382792"/>
            <a:ext cx="566928" cy="9899"/>
          </a:xfrm>
          <a:prstGeom prst="rect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3" y="5126760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$28M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2024A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6495" y="5288036"/>
            <a:ext cx="566928" cy="134355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6495" y="5238536"/>
            <a:ext cx="566928" cy="49499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6495" y="5181965"/>
            <a:ext cx="566928" cy="56570"/>
          </a:xfrm>
          <a:prstGeom prst="rect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1903" y="4925933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$170M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676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4736" y="4998110"/>
            <a:ext cx="566928" cy="424281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64736" y="4771826"/>
            <a:ext cx="566928" cy="226283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4736" y="4503115"/>
            <a:ext cx="566928" cy="268711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144" y="4247083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500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22976" y="4715256"/>
            <a:ext cx="566928" cy="70713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22976" y="4206118"/>
            <a:ext cx="566928" cy="509137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22976" y="3668694"/>
            <a:ext cx="566928" cy="537423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58384" y="3412662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$1,240M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1216" y="4432401"/>
            <a:ext cx="566928" cy="98999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81216" y="3513124"/>
            <a:ext cx="566928" cy="91927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81216" y="2523134"/>
            <a:ext cx="566928" cy="98999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6624" y="2267102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$2,050M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14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5727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REVENUE BY SOURCE, $M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24328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Individual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77056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05656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Enterprise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58384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86984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Agent use and hosting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20840" y="158191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159105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63840" y="1627632"/>
            <a:ext cx="3730752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863840" y="1627632"/>
            <a:ext cx="64008" cy="1197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1792224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73x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2295144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2024 to 2028 revenue growth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63072" y="17373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63072" y="17465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63840" y="3026664"/>
            <a:ext cx="3730752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863840" y="3026664"/>
            <a:ext cx="64008" cy="11978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40" y="3191256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100M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3694176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Registered users by 2028E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63072" y="313639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63072" y="3145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4425696"/>
            <a:ext cx="3730752" cy="1197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863840" y="4425696"/>
            <a:ext cx="64008" cy="11978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4590288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$2.35B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5093208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2028E exit ARR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863072" y="453542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63072" y="45445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" y="576986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Public anchor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19072" y="5751576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767270"/>
                </a:solidFill>
                <a:latin typeface="Arial"/>
              </a:rPr>
              <a:t>Management stated Replit was on track for $1B run-rate revenue by year-end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Subscriptions provide a base. Usage adds growth.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model has low estimated customer concentration and broad geographic reach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RPL-PRICING-2026 | RPL-ENT-DOC-2026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93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REVENUE MIX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93392"/>
            <a:ext cx="6629400" cy="566928"/>
          </a:xfrm>
          <a:prstGeom prst="roundRect">
            <a:avLst>
              <a:gd name="adj" fmla="val 12000"/>
            </a:avLst>
          </a:prstGeom>
          <a:solidFill>
            <a:srgbClr val="DBD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993392"/>
            <a:ext cx="4640579" cy="56692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34940" y="1993392"/>
            <a:ext cx="1988819" cy="56692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67128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70% recurring subscriptions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216712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30% usage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214884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215798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5351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2026E REVENUE BY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Individual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355848"/>
            <a:ext cx="41148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355848"/>
            <a:ext cx="3798276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3192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$300M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77639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Enterprise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995927"/>
            <a:ext cx="41148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3995927"/>
            <a:ext cx="2025747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9593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$160M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1772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Usage &amp; deploy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636007"/>
            <a:ext cx="41148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636007"/>
            <a:ext cx="2405575" cy="2743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59943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$190M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08392" y="1572768"/>
            <a:ext cx="3886200" cy="4398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91856" y="1847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GEOGRAPHIC MIX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2313432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10144" y="2313432"/>
            <a:ext cx="2215134" cy="20116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0144" y="2569463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United States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88168" y="2304288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Arial"/>
              </a:rPr>
              <a:t>57%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0144" y="2880360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10144" y="2880360"/>
            <a:ext cx="699516" cy="20116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0144" y="3136391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EMEA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88168" y="2871216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Arial"/>
              </a:rPr>
              <a:t>18%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0144" y="3447287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3447287"/>
            <a:ext cx="777240" cy="201168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0144" y="37033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APAC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88168" y="3438144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Arial"/>
              </a:rPr>
              <a:t>20%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10144" y="4014215"/>
            <a:ext cx="2331720" cy="201168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10144" y="4014215"/>
            <a:ext cx="194310" cy="201168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10144" y="427024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Other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88168" y="4005072"/>
            <a:ext cx="530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A8A5A3"/>
                </a:solidFill>
                <a:latin typeface="Arial"/>
              </a:rPr>
              <a:t>5%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10144" y="4727448"/>
            <a:ext cx="3264408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010144" y="5010912"/>
            <a:ext cx="749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F3C00"/>
                </a:solidFill>
                <a:latin typeface="Arial"/>
              </a:rPr>
              <a:t>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507492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7270"/>
                </a:solidFill>
                <a:latin typeface="Arial"/>
              </a:rPr>
              <a:t>top-10 customer concentration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25912" y="5440680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25912" y="544982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Enterprise accounts expand after the first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cohort model tracks retained and expanded annual recurring revenue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ENTERPRISE ARR COHORT MULTIPLE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5312664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522122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0.8x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4510278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41883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1.1x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707891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61645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1.3x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905506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81406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1.6x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2103120"/>
            <a:ext cx="624535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01167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1.8x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9024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0808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5404104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M36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33271" y="4285609"/>
            <a:ext cx="2081785" cy="385146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15056" y="3772082"/>
            <a:ext cx="2081784" cy="513527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96840" y="3322746"/>
            <a:ext cx="2081784" cy="449336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82980" y="4620463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64764" y="4235317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46548" y="3721790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8332" y="3272454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67144" y="299356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Arial"/>
              </a:rPr>
              <a:t>1.42x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1" y="1783080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1872" y="1719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2023 cohort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033271" y="3964655"/>
            <a:ext cx="2081785" cy="70610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115056" y="3130174"/>
            <a:ext cx="2081784" cy="83448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196840" y="2424074"/>
            <a:ext cx="2081784" cy="70610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82980" y="4620463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064764" y="3914363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146548" y="307988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28332" y="237378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67144" y="209489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1.70x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50591" y="1783080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9191" y="171907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2024 cohort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84848" y="149047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4848" y="149961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18120" y="1609344"/>
            <a:ext cx="377647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818120" y="1609344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177393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138%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2276856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2026E enterprise NRR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63072" y="171907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63072" y="172821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18120" y="3026664"/>
            <a:ext cx="3776472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818120" y="3026664"/>
            <a:ext cx="64008" cy="120700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3191256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818"/>
                </a:solidFill>
                <a:latin typeface="Arial"/>
              </a:rPr>
              <a:t>92%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3694176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2026E enterprise GRR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863072" y="313639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63072" y="314553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18120" y="4443984"/>
            <a:ext cx="3776472" cy="11887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9872" y="466344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How accounts grow</a:t>
            </a:r>
          </a:p>
        </p:txBody>
      </p:sp>
      <p:sp>
        <p:nvSpPr>
          <p:cNvPr id="60" name="Oval 59"/>
          <p:cNvSpPr/>
          <p:nvPr/>
        </p:nvSpPr>
        <p:spPr>
          <a:xfrm>
            <a:off x="8119872" y="50749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4464" y="50017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builders</a:t>
            </a:r>
          </a:p>
        </p:txBody>
      </p:sp>
      <p:sp>
        <p:nvSpPr>
          <p:cNvPr id="62" name="Oval 61"/>
          <p:cNvSpPr/>
          <p:nvPr/>
        </p:nvSpPr>
        <p:spPr>
          <a:xfrm>
            <a:off x="8119872" y="53035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84464" y="52303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agents</a:t>
            </a:r>
          </a:p>
        </p:txBody>
      </p:sp>
      <p:sp>
        <p:nvSpPr>
          <p:cNvPr id="64" name="Oval 63"/>
          <p:cNvSpPr/>
          <p:nvPr/>
        </p:nvSpPr>
        <p:spPr>
          <a:xfrm>
            <a:off x="8119872" y="553212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4464" y="5458968"/>
            <a:ext cx="2807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C5C5C5"/>
                </a:solidFill>
                <a:latin typeface="Arial"/>
              </a:rPr>
              <a:t>More deployed workloads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742432"/>
            <a:ext cx="11000232" cy="219456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" y="5769864"/>
            <a:ext cx="10561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" b="1" i="0">
                <a:solidFill>
                  <a:srgbClr val="FFFFFF"/>
                </a:solidFill>
                <a:latin typeface="Arial"/>
              </a:rPr>
              <a:t>Retention is the main diligence gap. The cohort and retention data are estimates until the company provides actual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Lower model cost lifts gross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Enterprise contracts and lower compute cost improve contribution margin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GROSS-MARGIN EXPANSION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4352544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4261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3728465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6370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35%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104387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01294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50%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480310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38887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65%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1856231"/>
            <a:ext cx="4462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176479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4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33271" y="3270808"/>
            <a:ext cx="1115568" cy="74889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48839" y="2771546"/>
            <a:ext cx="1115569" cy="49926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64408" y="2438704"/>
            <a:ext cx="1115568" cy="33284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379976" y="2230678"/>
            <a:ext cx="1115568" cy="208026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982980" y="3969410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98547" y="322051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14115" y="2721254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29684" y="238841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45252" y="218038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4064" y="190149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71%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1481328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COMPUTE COST / SUCCESSFUL BUILD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65392" y="4352544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26480" y="4261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65392" y="3728465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0" y="363702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42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65392" y="3104387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26480" y="3012947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65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65392" y="2480310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26480" y="238887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88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65392" y="1856231"/>
            <a:ext cx="4809744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26480" y="176479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110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59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2025E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1796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14232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16668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19104" y="4443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565392" y="2133600"/>
            <a:ext cx="1202435" cy="776630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767827" y="2910230"/>
            <a:ext cx="1202437" cy="499262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970264" y="3409492"/>
            <a:ext cx="1202436" cy="332842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172700" y="3742334"/>
            <a:ext cx="1202436" cy="194157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515100" y="2083308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717536" y="2859938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919972" y="3359200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122408" y="3692042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324844" y="3886200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63656" y="360730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Arial"/>
              </a:rPr>
              <a:t>35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9436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6 mo.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Individual CAC payback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10127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10127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34340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34340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14 mo.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CAC payback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59168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59168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92440" y="4828032"/>
            <a:ext cx="3447288" cy="11064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092440" y="4828032"/>
            <a:ext cx="64008" cy="110642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4992624"/>
            <a:ext cx="30815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81818"/>
                </a:solidFill>
                <a:latin typeface="Arial"/>
              </a:rPr>
              <a:t>4.2x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21040" y="5495544"/>
            <a:ext cx="3081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Enterprise LTV / CAC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808208" y="49377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808208" y="49469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Individual users open the door to enterprise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sales team converts active users, teams, and deployed apps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RPL-ENT-2026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17</a:t>
            </a:r>
          </a:p>
        </p:txBody>
      </p:sp>
      <p:sp>
        <p:nvSpPr>
          <p:cNvPr id="9" name="Oval 8"/>
          <p:cNvSpPr/>
          <p:nvPr/>
        </p:nvSpPr>
        <p:spPr>
          <a:xfrm>
            <a:off x="1115568" y="1938528"/>
            <a:ext cx="1152144" cy="1152144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CREATE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2368296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Individual builder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Arial"/>
              </a:rPr>
              <a:t>FREE + PAID</a:t>
            </a:r>
          </a:p>
        </p:txBody>
      </p:sp>
      <p:sp>
        <p:nvSpPr>
          <p:cNvPr id="15" name="Oval 14"/>
          <p:cNvSpPr/>
          <p:nvPr/>
        </p:nvSpPr>
        <p:spPr>
          <a:xfrm>
            <a:off x="3346703" y="1938528"/>
            <a:ext cx="1152144" cy="1152144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3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SHARE</a:t>
            </a:r>
          </a:p>
        </p:txBody>
      </p:sp>
      <p:sp>
        <p:nvSpPr>
          <p:cNvPr id="17" name="Chevron 16"/>
          <p:cNvSpPr/>
          <p:nvPr/>
        </p:nvSpPr>
        <p:spPr>
          <a:xfrm>
            <a:off x="4599431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25496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Team adoption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74136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764D"/>
                </a:solidFill>
                <a:latin typeface="Arial"/>
              </a:rPr>
              <a:t>COLLABORATION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1938528"/>
            <a:ext cx="1152144" cy="1152144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DEPLOY</a:t>
            </a:r>
          </a:p>
        </p:txBody>
      </p:sp>
      <p:sp>
        <p:nvSpPr>
          <p:cNvPr id="23" name="Chevron 22"/>
          <p:cNvSpPr/>
          <p:nvPr/>
        </p:nvSpPr>
        <p:spPr>
          <a:xfrm>
            <a:off x="6830568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Business workload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05272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D95A2B"/>
                </a:solidFill>
                <a:latin typeface="Arial"/>
              </a:rPr>
              <a:t>USAGE</a:t>
            </a:r>
          </a:p>
        </p:txBody>
      </p:sp>
      <p:sp>
        <p:nvSpPr>
          <p:cNvPr id="27" name="Oval 26"/>
          <p:cNvSpPr/>
          <p:nvPr/>
        </p:nvSpPr>
        <p:spPr>
          <a:xfrm>
            <a:off x="7808976" y="1938528"/>
            <a:ext cx="1152144" cy="1152144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8976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GOVERN</a:t>
            </a:r>
          </a:p>
        </p:txBody>
      </p:sp>
      <p:sp>
        <p:nvSpPr>
          <p:cNvPr id="29" name="Chevron 28"/>
          <p:cNvSpPr/>
          <p:nvPr/>
        </p:nvSpPr>
        <p:spPr>
          <a:xfrm>
            <a:off x="9061704" y="2331720"/>
            <a:ext cx="274320" cy="365760"/>
          </a:xfrm>
          <a:prstGeom prst="chevron">
            <a:avLst/>
          </a:prstGeom>
          <a:solidFill>
            <a:srgbClr val="C5C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7768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Enterprise standard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36408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6408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9F350F"/>
                </a:solidFill>
                <a:latin typeface="Arial"/>
              </a:rPr>
              <a:t>COMMITMENT</a:t>
            </a:r>
          </a:p>
        </p:txBody>
      </p:sp>
      <p:sp>
        <p:nvSpPr>
          <p:cNvPr id="33" name="Oval 32"/>
          <p:cNvSpPr/>
          <p:nvPr/>
        </p:nvSpPr>
        <p:spPr>
          <a:xfrm>
            <a:off x="10040112" y="1938528"/>
            <a:ext cx="1152144" cy="1152144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0112" y="1938528"/>
            <a:ext cx="1152144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ourier New"/>
              </a:rPr>
              <a:t>EXPAND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18904" y="335584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81818"/>
                </a:solidFill>
                <a:latin typeface="Arial"/>
              </a:rPr>
              <a:t>More teams + apps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67544" y="3767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67544" y="37764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312E2E"/>
                </a:solidFill>
                <a:latin typeface="Arial"/>
              </a:rPr>
              <a:t>NRR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43984"/>
            <a:ext cx="11000232" cy="149047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72744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Product-led growth lowers acquisition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4727448"/>
            <a:ext cx="312724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Enterprise sales monetizes organic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4727448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Runtime increases account spend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78808" y="4663440"/>
            <a:ext cx="0" cy="978408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99831" y="4663440"/>
            <a:ext cx="0" cy="978408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96112" y="532180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Arial"/>
              </a:rPr>
              <a:t>50M+ user 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2" y="532180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764D"/>
                </a:solidFill>
                <a:latin typeface="Arial"/>
              </a:rPr>
              <a:t>Usage signals identify the best accounts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4152" y="532180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95A2B"/>
                </a:solidFill>
                <a:latin typeface="Arial"/>
              </a:rPr>
              <a:t>Apps + agents + compute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Strong competitors prove the market. No product matches Replit's full scope.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Replit serves more users and covers more of the app workflow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RPL-D-2026 | CURSOR-D-2025 | ANTHROPIC-CLAUDE-CODE-2025 | LOVABLE-B-2025 | MSFT-FY25-Q4 | COGNITION-WINDSURF | V0-DOCS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4752" y="5468112"/>
            <a:ext cx="9482328" cy="0"/>
          </a:xfrm>
          <a:prstGeom prst="line">
            <a:avLst/>
          </a:prstGeom>
          <a:ln w="1397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44752" y="1719072"/>
            <a:ext cx="0" cy="3749040"/>
          </a:xfrm>
          <a:prstGeom prst="line">
            <a:avLst/>
          </a:prstGeom>
          <a:ln w="13970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532180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Point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9344"/>
            <a:ext cx="6949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Full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61441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Professional developers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0112" y="561441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Everyone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" y="3319272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Courier New"/>
              </a:rPr>
              <a:t>PLATFORM BREADTH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879592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Courier New"/>
              </a:rPr>
              <a:t>AUDIENCE BREADTH</a:t>
            </a:r>
          </a:p>
        </p:txBody>
      </p:sp>
      <p:sp>
        <p:nvSpPr>
          <p:cNvPr id="17" name="Oval 16"/>
          <p:cNvSpPr/>
          <p:nvPr/>
        </p:nvSpPr>
        <p:spPr>
          <a:xfrm>
            <a:off x="2971800" y="4443984"/>
            <a:ext cx="804672" cy="804672"/>
          </a:xfrm>
          <a:prstGeom prst="ellipse">
            <a:avLst/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444398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GitHub
Copilot</a:t>
            </a:r>
          </a:p>
        </p:txBody>
      </p:sp>
      <p:sp>
        <p:nvSpPr>
          <p:cNvPr id="19" name="Oval 18"/>
          <p:cNvSpPr/>
          <p:nvPr/>
        </p:nvSpPr>
        <p:spPr>
          <a:xfrm>
            <a:off x="2880360" y="3346704"/>
            <a:ext cx="804672" cy="804672"/>
          </a:xfrm>
          <a:prstGeom prst="ellipse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34670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Cursor /
Windsurf</a:t>
            </a:r>
          </a:p>
        </p:txBody>
      </p:sp>
      <p:sp>
        <p:nvSpPr>
          <p:cNvPr id="21" name="Oval 20"/>
          <p:cNvSpPr/>
          <p:nvPr/>
        </p:nvSpPr>
        <p:spPr>
          <a:xfrm>
            <a:off x="2157984" y="3730752"/>
            <a:ext cx="804672" cy="804672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57984" y="3730752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Claude
Code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3895344"/>
            <a:ext cx="804672" cy="804672"/>
          </a:xfrm>
          <a:prstGeom prst="ellipse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3895344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Lovable /
Bolt / v0</a:t>
            </a:r>
          </a:p>
        </p:txBody>
      </p:sp>
      <p:sp>
        <p:nvSpPr>
          <p:cNvPr id="25" name="Oval 24"/>
          <p:cNvSpPr/>
          <p:nvPr/>
        </p:nvSpPr>
        <p:spPr>
          <a:xfrm>
            <a:off x="3246120" y="2084831"/>
            <a:ext cx="804672" cy="804672"/>
          </a:xfrm>
          <a:prstGeom prst="ellipse">
            <a:avLst/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2084831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Cloud
suites</a:t>
            </a:r>
          </a:p>
        </p:txBody>
      </p:sp>
      <p:sp>
        <p:nvSpPr>
          <p:cNvPr id="27" name="Oval 26"/>
          <p:cNvSpPr/>
          <p:nvPr/>
        </p:nvSpPr>
        <p:spPr>
          <a:xfrm>
            <a:off x="8668512" y="1865376"/>
            <a:ext cx="1051560" cy="1051560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1865376"/>
            <a:ext cx="105156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Replit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7456" y="1572768"/>
            <a:ext cx="4517136" cy="4206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673352"/>
            <a:ext cx="42245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Replit serves more users and covers the full 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3496" y="4983480"/>
            <a:ext cx="153619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4992624"/>
            <a:ext cx="15361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OBSERVABLE POSITIONING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P&amp;L reaches operating profit in 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Revenue growth and gross-margin gains fund continued investment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SACRA-2025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1000232" cy="47548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1907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P&amp;L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2025E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6873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2026E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4826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2027E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79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2028E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0732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2029E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8685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2030E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6638" y="171907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rial"/>
              </a:rPr>
              <a:t>2031E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048256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13055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$170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6873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$650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4826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$1,240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2779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$2,050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0732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$3,000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8685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$4,100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6638" y="213055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$5,250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2395728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2478024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507%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6873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4826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91%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779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65%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0732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46%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8685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37%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6638" y="247802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2743200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282549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Gross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6873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$299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4826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$719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2779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$1,353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0732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$2,130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8685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$3,034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6638" y="282549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$3,990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3090672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" y="317296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Gross margin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46873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46%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4826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58%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2779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66%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20732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71%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78685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74%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6638" y="317296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76%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438144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8" y="3520440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R&amp;D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88920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6873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$300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4826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$380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62779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$500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20732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$650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8685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$820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6638" y="352044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$980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3785616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8" y="386791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Sales and marketing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88920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46873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4826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$250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2779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$400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20732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$600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78685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$820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6638" y="3867912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$1,030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4133088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5528" y="4215384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G&amp;A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88920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$45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46873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4826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62779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$160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20732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$220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78685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$290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36638" y="4215384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$360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" y="4480560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5528" y="456285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Adjusted operating income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0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($207)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46873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($231)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04826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($21)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62779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$293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20732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$660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78685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$1,104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36638" y="4562856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$1,620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828032"/>
            <a:ext cx="11000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5528" y="491032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81818"/>
                </a:solidFill>
                <a:latin typeface="Arial"/>
              </a:rPr>
              <a:t>Adjusted operating margin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88920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-122%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46873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-36%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4826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-2%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62779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14%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20732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22%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78685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27%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36638" y="4910328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81818"/>
                </a:solidFill>
                <a:latin typeface="Arial"/>
              </a:rPr>
              <a:t>31%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" y="5175504"/>
            <a:ext cx="11000232" cy="347472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5528" y="5257800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81818"/>
                </a:solidFill>
                <a:latin typeface="Arial"/>
              </a:rPr>
              <a:t>Free cash flow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88920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($224)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46873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($256)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04826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81818"/>
                </a:solidFill>
                <a:latin typeface="Arial"/>
              </a:rPr>
              <a:t>($46)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62779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$278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20732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$655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78685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$1,114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336638" y="5257800"/>
            <a:ext cx="12579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$1,645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835640" y="1664208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835640" y="167335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94360" y="5632704"/>
            <a:ext cx="11000232" cy="32918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2960" y="5696712"/>
            <a:ext cx="10561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Arial"/>
              </a:rPr>
              <a:t>Adjusted operating income and free cash flow turn positive in 2028.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Enterprise and runtime drive the 2026 to 2031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Stacked bars show individual, enterprise, and agent usage revenue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5422392"/>
            <a:ext cx="6949440" cy="0"/>
          </a:xfrm>
          <a:prstGeom prst="line">
            <a:avLst/>
          </a:prstGeom>
          <a:ln w="889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90016" y="5257800"/>
            <a:ext cx="566928" cy="164592"/>
          </a:xfrm>
          <a:prstGeom prst="rect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0016" y="5170017"/>
            <a:ext cx="566928" cy="87782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0016" y="5065776"/>
            <a:ext cx="566928" cy="104241"/>
          </a:xfrm>
          <a:prstGeom prst="rect">
            <a:avLst/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424" y="4809744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$650M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2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8255" y="5148072"/>
            <a:ext cx="566928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8255" y="4950561"/>
            <a:ext cx="566928" cy="197510"/>
          </a:xfrm>
          <a:prstGeom prst="rect">
            <a:avLst/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48255" y="4742078"/>
            <a:ext cx="566928" cy="208483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3" y="4486046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$1,240M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6495" y="5038344"/>
            <a:ext cx="566928" cy="38404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6495" y="4681728"/>
            <a:ext cx="566928" cy="35661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6495" y="4297679"/>
            <a:ext cx="566928" cy="384048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1903" y="4041647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$2,050M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6767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4736" y="4939588"/>
            <a:ext cx="566928" cy="482803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64736" y="4418380"/>
            <a:ext cx="566928" cy="521208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64736" y="3776472"/>
            <a:ext cx="566928" cy="641908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144" y="3520439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$3,000M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500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22976" y="4846320"/>
            <a:ext cx="566928" cy="57607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22976" y="4133087"/>
            <a:ext cx="566928" cy="71323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522976" y="3172968"/>
            <a:ext cx="566928" cy="9601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58384" y="2916935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$4,100M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1324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2030E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1216" y="4764024"/>
            <a:ext cx="566928" cy="658368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81216" y="3858768"/>
            <a:ext cx="566928" cy="905256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81216" y="2542031"/>
            <a:ext cx="566928" cy="1316736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6624" y="2285999"/>
            <a:ext cx="8961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181818"/>
                </a:solidFill>
                <a:latin typeface="Arial"/>
              </a:rPr>
              <a:t>$5,250M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1488" y="5513831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2031E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1572768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REVENUE BY SOURCE, $M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24328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Individual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77056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05656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Enterprise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58384" y="1618488"/>
            <a:ext cx="164592" cy="7315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86984" y="1581912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Agent use and hosting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20840" y="1581912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159105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63840" y="1627632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863840" y="1627632"/>
            <a:ext cx="64008" cy="850392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1792224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$5.25B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2295144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revenue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863072" y="1737360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63072" y="174650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63840" y="2651760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863840" y="2651760"/>
            <a:ext cx="64008" cy="850392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40" y="2816352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52%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2440" y="3319272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2026 to 2031 CAGR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863072" y="276148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63072" y="277063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3675888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863840" y="3675888"/>
            <a:ext cx="64008" cy="850392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3840480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76%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4343400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gross margin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863072" y="3785616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63072" y="379476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63840" y="4700016"/>
            <a:ext cx="3730752" cy="850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863840" y="4700016"/>
            <a:ext cx="64008" cy="850392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2440" y="4864608"/>
            <a:ext cx="33649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52%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2440" y="5367528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2031E international mix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63072" y="4809744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63072" y="4818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63840" y="5769864"/>
            <a:ext cx="3730752" cy="19202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0" y="5751576"/>
            <a:ext cx="373075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Arial"/>
              </a:rPr>
              <a:t>Enterprise + runtime = 77% of 2031 revenue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Free cash flow turns positive in 2028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Higher gross margin pays for product, sales, and international growth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271" y="5495544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54041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-80%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271" y="4608576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451713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-40%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3271" y="3721608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63016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33271" y="2834639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274319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40%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3271" y="1947672"/>
            <a:ext cx="60624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185623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2026E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9734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2027E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2228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2028E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4723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2029E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7217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2030E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5586983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2031E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033271" y="2435504"/>
            <a:ext cx="1212495" cy="266090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245766" y="2258110"/>
            <a:ext cx="1212494" cy="17739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458260" y="2147239"/>
            <a:ext cx="1212495" cy="11087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670755" y="2080717"/>
            <a:ext cx="1212494" cy="6652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883249" y="2036368"/>
            <a:ext cx="1212495" cy="44349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82980" y="265130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95474" y="2385212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07968" y="2207818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20463" y="2096947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32957" y="2030425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45452" y="1986076"/>
            <a:ext cx="100584" cy="100584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84264" y="17071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76%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327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61872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Gross margin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1033271" y="3758803"/>
            <a:ext cx="1212495" cy="750841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245766" y="3404679"/>
            <a:ext cx="1212494" cy="354124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458260" y="3233775"/>
            <a:ext cx="1212495" cy="170904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670755" y="3124527"/>
            <a:ext cx="1212494" cy="109248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883249" y="3037375"/>
            <a:ext cx="1212495" cy="87152"/>
          </a:xfrm>
          <a:prstGeom prst="line">
            <a:avLst/>
          </a:prstGeom>
          <a:ln w="29209">
            <a:solidFill>
              <a:srgbClr val="FF7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982980" y="4459352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95474" y="3708511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07968" y="3354387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20463" y="3183483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832957" y="3074235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45452" y="2987083"/>
            <a:ext cx="100584" cy="100584"/>
          </a:xfrm>
          <a:prstGeom prst="ellipse">
            <a:avLst/>
          </a:prstGeom>
          <a:solidFill>
            <a:srgbClr val="FF764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84264" y="2708191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764D"/>
                </a:solidFill>
                <a:latin typeface="Arial"/>
              </a:rPr>
              <a:t>31%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5059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79191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Adj. op. margin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1033271" y="3803509"/>
            <a:ext cx="1212495" cy="79142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245766" y="3420904"/>
            <a:ext cx="1212494" cy="382605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458260" y="3237471"/>
            <a:ext cx="1212495" cy="18343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70755" y="3119118"/>
            <a:ext cx="1212494" cy="11835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883249" y="3026816"/>
            <a:ext cx="1212495" cy="9230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982980" y="4544638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95474" y="3753217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407968" y="3370612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20463" y="3187179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32957" y="3068826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045452" y="2976524"/>
            <a:ext cx="100584" cy="100584"/>
          </a:xfrm>
          <a:prstGeom prst="ellipse">
            <a:avLst/>
          </a:prstGeom>
          <a:solidFill>
            <a:srgbClr val="D95A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84264" y="269763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95A2B"/>
                </a:solidFill>
                <a:latin typeface="Arial"/>
              </a:rPr>
              <a:t>31%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1" y="1627632"/>
            <a:ext cx="164592" cy="548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96511" y="15636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FCF margin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47104" y="1636776"/>
            <a:ext cx="566928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47104" y="164592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26096" y="1627632"/>
            <a:ext cx="3968496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36992" y="1901952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MARGIN DRIVERS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36992" y="2377440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3C00"/>
                </a:solidFill>
                <a:latin typeface="Arial"/>
              </a:rPr>
              <a:t>+30 pts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33688" y="2404872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Gross-margin expansion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36992" y="3072384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764D"/>
                </a:solidFill>
                <a:latin typeface="Arial"/>
              </a:rPr>
              <a:t>+11 pts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33688" y="3099816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Sales productivity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36992" y="3767328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5A2B"/>
                </a:solidFill>
                <a:latin typeface="Arial"/>
              </a:rPr>
              <a:t>+9 pts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33688" y="3794760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G&amp;A efficiency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36992" y="4462272"/>
            <a:ext cx="841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350F"/>
                </a:solidFill>
                <a:latin typeface="Arial"/>
              </a:rPr>
              <a:t>(4) pts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33688" y="4489704"/>
            <a:ext cx="2075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Ongoing R&amp;D reinvestment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936992" y="5230368"/>
            <a:ext cx="3310128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936992" y="5413248"/>
            <a:ext cx="7680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Courier New"/>
              </a:rPr>
              <a:t>2028E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41664" y="5394960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81818"/>
                </a:solidFill>
                <a:latin typeface="Arial"/>
              </a:rPr>
              <a:t>first full year of positive free cash flow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$800M funds six programs with clear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$200M secondary purchase does not add cash to the company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PRIMARY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Model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98424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1984248"/>
            <a:ext cx="3717234" cy="27432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9476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$220M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6032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Enterprise 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57860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2578608"/>
            <a:ext cx="2703443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54203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$160M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5468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User growth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17296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86000" y="3172968"/>
            <a:ext cx="2365513" cy="27432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13639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$140M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49039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International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3767327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86000" y="3767327"/>
            <a:ext cx="2027582" cy="27432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7307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$120M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Talent and research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36168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86000" y="4361688"/>
            <a:ext cx="2027582" cy="27432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432511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$120M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9377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Arial"/>
              </a:rPr>
              <a:t>Reserve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956048"/>
            <a:ext cx="3886200" cy="27432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86000" y="4956048"/>
            <a:ext cx="675860" cy="274320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49194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181818"/>
                </a:solidFill>
                <a:latin typeface="Arial"/>
              </a:rPr>
              <a:t>$40M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88352" y="1572768"/>
            <a:ext cx="4206240" cy="4407408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4112" y="1993392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3C00"/>
                </a:solidFill>
                <a:latin typeface="Arial"/>
              </a:rPr>
              <a:t>$800M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261518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company proceeds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310896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WHAT THE CAPITAL FUNDS</a:t>
            </a:r>
          </a:p>
        </p:txBody>
      </p:sp>
      <p:sp>
        <p:nvSpPr>
          <p:cNvPr id="38" name="Oval 37"/>
          <p:cNvSpPr/>
          <p:nvPr/>
        </p:nvSpPr>
        <p:spPr>
          <a:xfrm>
            <a:off x="7882127" y="3566160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3493008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65% lower compute cost per successful build</a:t>
            </a:r>
          </a:p>
        </p:txBody>
      </p:sp>
      <p:sp>
        <p:nvSpPr>
          <p:cNvPr id="40" name="Oval 39"/>
          <p:cNvSpPr/>
          <p:nvPr/>
        </p:nvSpPr>
        <p:spPr>
          <a:xfrm>
            <a:off x="7882127" y="3913632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3840480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4,200 enterprise customers</a:t>
            </a:r>
          </a:p>
        </p:txBody>
      </p:sp>
      <p:sp>
        <p:nvSpPr>
          <p:cNvPr id="42" name="Oval 41"/>
          <p:cNvSpPr/>
          <p:nvPr/>
        </p:nvSpPr>
        <p:spPr>
          <a:xfrm>
            <a:off x="7882127" y="4261104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4187952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Local infrastructure, sales, and compliance in Europe, India, and the Middle East</a:t>
            </a:r>
          </a:p>
        </p:txBody>
      </p:sp>
      <p:sp>
        <p:nvSpPr>
          <p:cNvPr id="44" name="Oval 43"/>
          <p:cNvSpPr/>
          <p:nvPr/>
        </p:nvSpPr>
        <p:spPr>
          <a:xfrm>
            <a:off x="7882127" y="4608576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4535424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100M users and 5M paid users</a:t>
            </a:r>
          </a:p>
        </p:txBody>
      </p:sp>
      <p:sp>
        <p:nvSpPr>
          <p:cNvPr id="46" name="Oval 45"/>
          <p:cNvSpPr/>
          <p:nvPr/>
        </p:nvSpPr>
        <p:spPr>
          <a:xfrm>
            <a:off x="7882127" y="4956048"/>
            <a:ext cx="73152" cy="73152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4882896"/>
            <a:ext cx="30358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Model, security, product, and sales leaders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927848" y="5285232"/>
            <a:ext cx="3127248" cy="0"/>
          </a:xfrm>
          <a:prstGeom prst="line">
            <a:avLst/>
          </a:prstGeom>
          <a:ln w="12700">
            <a:solidFill>
              <a:srgbClr val="31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54112" y="541324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95A2B"/>
                </a:solidFill>
                <a:latin typeface="Arial"/>
              </a:rPr>
              <a:t>$200M secondary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5480" y="5422392"/>
            <a:ext cx="13533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C5C5C5"/>
                </a:solidFill>
                <a:latin typeface="Arial"/>
              </a:rPr>
              <a:t>No cash to the company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Series E removes the cash constraint before the 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monthly model shows the funding date, cash floor, and target IPO window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7270"/>
                </a:solidFill>
                <a:latin typeface="Courier New"/>
              </a:rPr>
              <a:t>ENDING CASH BY MONTH, $M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33271" y="5230368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51389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4469130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37769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$750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707892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6164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$1,500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946654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285521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$2,250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3271" y="2185416"/>
            <a:ext cx="6748273" cy="0"/>
          </a:xfrm>
          <a:prstGeom prst="line">
            <a:avLst/>
          </a:prstGeom>
          <a:ln w="7620">
            <a:solidFill>
              <a:srgbClr val="C5C5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09397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$3,000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721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0203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1684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3166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647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6129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Oct-29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7610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Apr-30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2" y="532180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767270"/>
                </a:solidFill>
                <a:latin typeface="Arial"/>
              </a:rPr>
              <a:t>Sep-30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033271" y="4214436"/>
            <a:ext cx="143581" cy="75988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76852" y="4214436"/>
            <a:ext cx="143580" cy="2165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20432" y="4236089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64012" y="4239963"/>
            <a:ext cx="143581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07593" y="4243837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51173" y="4247711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94753" y="4251585"/>
            <a:ext cx="143580" cy="387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38333" y="4255458"/>
            <a:ext cx="143581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81914" y="4259332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25494" y="4263206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9074" y="4267080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12654" y="4270954"/>
            <a:ext cx="143581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756235" y="4274828"/>
            <a:ext cx="143580" cy="387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99815" y="4278702"/>
            <a:ext cx="143580" cy="387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43395" y="4259062"/>
            <a:ext cx="143580" cy="2351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186975" y="4235548"/>
            <a:ext cx="143581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330556" y="4212034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474136" y="4188520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617716" y="4165006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761296" y="4141493"/>
            <a:ext cx="143581" cy="2351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904877" y="4117979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048457" y="4094465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192037" y="4070951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335617" y="4047437"/>
            <a:ext cx="143581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479198" y="4023924"/>
            <a:ext cx="143580" cy="23513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622778" y="4000410"/>
            <a:ext cx="143580" cy="2351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766358" y="3945009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909938" y="3889607"/>
            <a:ext cx="143581" cy="5540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053519" y="3834206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197099" y="3778805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340679" y="3723404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484259" y="3668003"/>
            <a:ext cx="143581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27840" y="3612601"/>
            <a:ext cx="143580" cy="5540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71420" y="3557200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15000" y="3501799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58580" y="3446398"/>
            <a:ext cx="143581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02161" y="3390997"/>
            <a:ext cx="143580" cy="55401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45741" y="3335595"/>
            <a:ext cx="143580" cy="55402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89321" y="3241371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632901" y="3147147"/>
            <a:ext cx="143581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776482" y="3052922"/>
            <a:ext cx="143580" cy="9422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20062" y="2958698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063642" y="2864474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207222" y="2770249"/>
            <a:ext cx="143581" cy="9422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350803" y="2676025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494383" y="2581801"/>
            <a:ext cx="143580" cy="94224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637963" y="2487576"/>
            <a:ext cx="143581" cy="94225"/>
          </a:xfrm>
          <a:prstGeom prst="line">
            <a:avLst/>
          </a:prstGeom>
          <a:ln w="29209">
            <a:solidFill>
              <a:srgbClr val="FF3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370064" y="21583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FF3C00"/>
                </a:solidFill>
                <a:latin typeface="Arial"/>
              </a:rPr>
              <a:t>$2,702M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3327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61872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Base with Series E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1033271" y="4214436"/>
            <a:ext cx="143581" cy="759885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76852" y="4214436"/>
            <a:ext cx="143580" cy="2165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320432" y="4236089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464012" y="4250831"/>
            <a:ext cx="143581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607593" y="4265574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751173" y="4280316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894753" y="4295058"/>
            <a:ext cx="143580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38333" y="4309801"/>
            <a:ext cx="143581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181914" y="4324543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325494" y="4339285"/>
            <a:ext cx="143580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469074" y="4354028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612654" y="4368770"/>
            <a:ext cx="143581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756235" y="4383512"/>
            <a:ext cx="143580" cy="14743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899815" y="4398255"/>
            <a:ext cx="143580" cy="1474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043395" y="4412997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186975" y="4418483"/>
            <a:ext cx="143581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330556" y="4423970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474136" y="4429456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617716" y="4434942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761296" y="4440429"/>
            <a:ext cx="143581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904877" y="4445915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048457" y="4451402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192037" y="4456888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335617" y="4462375"/>
            <a:ext cx="143581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479198" y="4467861"/>
            <a:ext cx="143580" cy="548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622778" y="4473347"/>
            <a:ext cx="143580" cy="548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766358" y="4476237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909938" y="4473640"/>
            <a:ext cx="143581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053519" y="4471044"/>
            <a:ext cx="143580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197099" y="4468447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340679" y="4465850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84259" y="4463254"/>
            <a:ext cx="143581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627840" y="4460657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771420" y="4458060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5915000" y="4455464"/>
            <a:ext cx="143580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6058580" y="4452867"/>
            <a:ext cx="143581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6202161" y="4450270"/>
            <a:ext cx="143580" cy="2597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6345741" y="4447674"/>
            <a:ext cx="143580" cy="2596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489321" y="4432892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32901" y="4418111"/>
            <a:ext cx="143581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76482" y="4403329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920062" y="4388548"/>
            <a:ext cx="143580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7063642" y="4373766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7207222" y="4358984"/>
            <a:ext cx="143581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7350803" y="4344203"/>
            <a:ext cx="143580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7494383" y="4329421"/>
            <a:ext cx="143580" cy="14782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637963" y="4314640"/>
            <a:ext cx="143581" cy="14781"/>
          </a:xfrm>
          <a:prstGeom prst="line">
            <a:avLst/>
          </a:prstGeom>
          <a:ln w="29209">
            <a:solidFill>
              <a:srgbClr val="D9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7370064" y="39854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D95A2B"/>
                </a:solidFill>
                <a:latin typeface="Arial"/>
              </a:rPr>
              <a:t>$902M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45059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79191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Downside with Series 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033271" y="4974321"/>
            <a:ext cx="143581" cy="21653"/>
          </a:xfrm>
          <a:prstGeom prst="line">
            <a:avLst/>
          </a:prstGeom>
          <a:ln w="29209">
            <a:solidFill>
              <a:srgbClr val="A8A5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765372" y="466679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A8A5A3"/>
                </a:solidFill>
                <a:latin typeface="Arial"/>
              </a:rPr>
              <a:t>Below $250M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86791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A8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096511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No Series E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033271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17685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2043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1464012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60759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75117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89475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038333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181914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325494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469074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612654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2756235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2899815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043395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186975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330556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474136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17716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1296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904877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048457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192037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335617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479198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622778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766358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909938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053519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197099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40679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84259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5627840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5771420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5915000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6058580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6202161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345741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489321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6632901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677648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692006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063642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207222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35080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494383" y="4976622"/>
            <a:ext cx="143580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7637963" y="4976622"/>
            <a:ext cx="143581" cy="0"/>
          </a:xfrm>
          <a:prstGeom prst="line">
            <a:avLst/>
          </a:prstGeom>
          <a:ln w="1524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7370064" y="464743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B83200"/>
                </a:solidFill>
                <a:latin typeface="Arial"/>
              </a:rPr>
              <a:t>$250M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5285231" y="1865376"/>
            <a:ext cx="164592" cy="54864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513831" y="180136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767270"/>
                </a:solidFill>
                <a:latin typeface="Arial"/>
              </a:rPr>
              <a:t>Minimum cash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176852" y="2185416"/>
            <a:ext cx="0" cy="3017520"/>
          </a:xfrm>
          <a:prstGeom prst="line">
            <a:avLst/>
          </a:prstGeom>
          <a:ln w="13970">
            <a:solidFill>
              <a:srgbClr val="B832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250004" y="55321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B83200"/>
                </a:solidFill>
                <a:latin typeface="Arial"/>
              </a:rPr>
              <a:t>Nov-26 funding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7781544" y="2185416"/>
            <a:ext cx="0" cy="3017520"/>
          </a:xfrm>
          <a:prstGeom prst="line">
            <a:avLst/>
          </a:prstGeom>
          <a:ln w="13970">
            <a:solidFill>
              <a:srgbClr val="FF3C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7068312" y="553212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1" i="0">
                <a:solidFill>
                  <a:srgbClr val="FF3C00"/>
                </a:solidFill>
                <a:latin typeface="Arial"/>
              </a:rPr>
              <a:t>H2-30 IPO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793992" y="1572768"/>
            <a:ext cx="1078992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793992" y="1581912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MONTHLY MODEL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321040" y="1572768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8321040" y="1572768"/>
            <a:ext cx="64008" cy="86868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549640" y="1737360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$274M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549640" y="2240280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Cash at Sep-26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0863072" y="1682495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0863072" y="1691639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321040" y="2606039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8321040" y="2606039"/>
            <a:ext cx="64008" cy="868680"/>
          </a:xfrm>
          <a:prstGeom prst="roundRect">
            <a:avLst>
              <a:gd name="adj" fmla="val 12000"/>
            </a:avLst>
          </a:prstGeom>
          <a:solidFill>
            <a:srgbClr val="FF7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549640" y="2770632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Nov-26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549640" y="3273551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Below $250M without the round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10863072" y="2715768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863072" y="2724911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8321040" y="3639311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8321040" y="3639311"/>
            <a:ext cx="64008" cy="868680"/>
          </a:xfrm>
          <a:prstGeom prst="roundRect">
            <a:avLst>
              <a:gd name="adj" fmla="val 12000"/>
            </a:avLst>
          </a:prstGeom>
          <a:solidFill>
            <a:srgbClr val="D9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549640" y="3803903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No round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549640" y="4306823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Further equity before IPO in base case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0863072" y="3749039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863072" y="37581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1040" y="4672583"/>
            <a:ext cx="32735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8321040" y="4672583"/>
            <a:ext cx="64008" cy="868680"/>
          </a:xfrm>
          <a:prstGeom prst="roundRect">
            <a:avLst>
              <a:gd name="adj" fmla="val 12000"/>
            </a:avLst>
          </a:prstGeom>
          <a:solidFill>
            <a:srgbClr val="9F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549640" y="4837175"/>
            <a:ext cx="29077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1818"/>
                </a:solidFill>
                <a:latin typeface="Arial"/>
              </a:rPr>
              <a:t>H2 2030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549640" y="5340096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7270"/>
                </a:solidFill>
                <a:latin typeface="Arial"/>
              </a:rPr>
              <a:t>Target IPO window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0863072" y="4782312"/>
            <a:ext cx="502920" cy="228600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863072" y="4791455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767270"/>
                </a:solidFill>
                <a:latin typeface="Arial"/>
              </a:rPr>
              <a:t>EST.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321040" y="5733288"/>
            <a:ext cx="3273552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321040" y="5760720"/>
            <a:ext cx="3273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The base and downside cases fund the company through the IPO target.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181818"/>
                </a:solidFill>
                <a:latin typeface="Arial"/>
              </a:rPr>
              <a:t>Founder-led product vision needs stronger 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next stage adds financial, enterprise, international, and board depth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RPL-LEADERSHIP-AMJAD | RPL-D-2026 | TECHCRUNCH-D-2026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3346704" cy="4389120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1956816"/>
            <a:ext cx="1042415" cy="1042415"/>
          </a:xfrm>
          <a:prstGeom prst="ellipse">
            <a:avLst/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956816"/>
            <a:ext cx="1042415" cy="1042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8269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Amjad Masad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7033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3C00"/>
                </a:solidFill>
                <a:latin typeface="Courier New"/>
              </a:rPr>
              <a:t>Founder &amp;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279392"/>
            <a:ext cx="24871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5C5C5"/>
                </a:solidFill>
                <a:latin typeface="Arial"/>
              </a:rPr>
              <a:t>Founder-led product conviction anchors the long-term mission: make software creation accessible to everyone.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5404104"/>
            <a:ext cx="841248" cy="228600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54132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60934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SERIES E OPERATING MANDATE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020824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18541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96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Financial rigor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6207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Segment ownership, forecasting cadence, and unit-economics accountability.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39896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0448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153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Enterprise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5811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Scaled field leadership, partner motion, and customer-success depth.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2020824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18541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4963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Global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86207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Regional product, infrastructure, compliance, and market leadership.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2712" y="3739896"/>
            <a:ext cx="33284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BD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592" y="3904487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4215383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81818"/>
                </a:solidFill>
                <a:latin typeface="Arial"/>
              </a:rPr>
              <a:t>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5811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767270"/>
                </a:solidFill>
                <a:latin typeface="Arial"/>
              </a:rPr>
              <a:t>Add independent directors, audit systems, risk controls, security controls, and compensation processes.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5614416"/>
            <a:ext cx="7296912" cy="347472"/>
          </a:xfrm>
          <a:prstGeom prst="roundRect">
            <a:avLst>
              <a:gd name="adj" fmla="val 12000"/>
            </a:avLst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5687568"/>
            <a:ext cx="68945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767270"/>
                </a:solidFill>
                <a:latin typeface="Arial"/>
              </a:rPr>
              <a:t>The round underwrites management-system scale without diluting founder-led product velocity.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012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81818"/>
                </a:solidFill>
                <a:latin typeface="Arial"/>
              </a:rPr>
              <a:t>The main risks have owners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149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7270"/>
                </a:solidFill>
                <a:latin typeface="Arial"/>
              </a:rPr>
              <a:t>The company tracks model cost, competition, security, sales conversion, and international delivery</a:t>
            </a:r>
          </a:p>
        </p:txBody>
      </p:sp>
      <p:pic>
        <p:nvPicPr>
          <p:cNvPr id="4" name="Picture 3" descr="replit_symbol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216255" cy="296628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94360" y="1271016"/>
            <a:ext cx="11000232" cy="0"/>
          </a:xfrm>
          <a:prstGeom prst="line">
            <a:avLst/>
          </a:prstGeom>
          <a:ln w="10160">
            <a:solidFill>
              <a:srgbClr val="DB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Sources: RPL-REVIEW-2025 | RPL-SEC-DOC-2026 | RPL-SECURITY-AGENT | MODEL-ESTIMATES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767270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1000232" cy="621792"/>
          </a:xfrm>
          <a:prstGeom prst="roundRect">
            <a:avLst>
              <a:gd name="adj" fmla="val 12000"/>
            </a:avLst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764792"/>
            <a:ext cx="22585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4" y="1764792"/>
            <a:ext cx="8412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1764792"/>
            <a:ext cx="7132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ourier New"/>
              </a:rPr>
              <a:t>Mitigation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94560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59152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Model dependency and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5" y="23774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5" y="238658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235915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Routing, Replit model training, capacity contracts, and usage 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798064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962656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Competition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8415" y="2980944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5" y="299008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2962656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Own the workflow, runtime, collaboration, and distribution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401568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566160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Code quality and 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8415" y="3584448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B8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5" y="3593591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356616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Automated testing, Security Agent, policy, audit logs, and human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005072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4169663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Enterprise conversion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28415" y="4187952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28415" y="4197096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4" y="4169663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Product-led sales, field sales, partners, customer success, and governance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608576"/>
            <a:ext cx="11000232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773168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Revenue concentration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28415" y="479145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28415" y="4800600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2544" y="4773168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A broad user base, low estimated account concentration, and global sales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212080"/>
            <a:ext cx="11000232" cy="603504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" y="5376672"/>
            <a:ext cx="2258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81818"/>
                </a:solidFill>
                <a:latin typeface="Arial"/>
              </a:rPr>
              <a:t>International delivery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28415" y="539496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28415" y="5404104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2544" y="537667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767270"/>
                </a:solidFill>
                <a:latin typeface="Arial"/>
              </a:rPr>
              <a:t>Regional infrastructure, compliance, payments, and channel partners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47104"/>
            <a:ext cx="7680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Sources: RPL-D-2026 | MODEL-ESTIMATES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654710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540" b="0" i="0">
                <a:solidFill>
                  <a:srgbClr val="A8A5A3"/>
                </a:solidFill>
                <a:latin typeface="Arial"/>
              </a:rPr>
              <a:t>Illustrative | Public information + analyst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FF3C00"/>
                </a:solidFill>
                <a:latin typeface="Courier New"/>
              </a:rPr>
              <a:t>26</a:t>
            </a:r>
          </a:p>
        </p:txBody>
      </p:sp>
      <p:pic>
        <p:nvPicPr>
          <p:cNvPr id="5" name="Picture 4" descr="replit_logo_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66928"/>
            <a:ext cx="1387144" cy="3954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479024" y="621792"/>
            <a:ext cx="960120" cy="228600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9024" y="6309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FFFFFF"/>
                </a:solidFill>
                <a:latin typeface="Arial"/>
              </a:rPr>
              <a:t>SERIES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481328"/>
            <a:ext cx="9555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1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Replit can become the default way
the world creates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3C00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Mass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50M+ users seed the enterprise funnel.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764D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Integrated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Agent, workspace, cloud, and governance.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95A2B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Improving margins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Lower model cost and operating scale produce 76% gross margin.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3383280"/>
            <a:ext cx="2468880" cy="1316736"/>
          </a:xfrm>
          <a:prstGeom prst="roundRect">
            <a:avLst>
              <a:gd name="adj" fmla="val 12000"/>
            </a:avLst>
          </a:prstGeom>
          <a:solidFill>
            <a:srgbClr val="31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359359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9F350F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3904487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Large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425196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C5C5C5"/>
                </a:solidFill>
                <a:latin typeface="Arial"/>
              </a:rPr>
              <a:t>$250B TAM with several revenue 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5175504"/>
            <a:ext cx="10771632" cy="740664"/>
          </a:xfrm>
          <a:prstGeom prst="roundRect">
            <a:avLst>
              <a:gd name="adj" fmla="val 12000"/>
            </a:avLst>
          </a:prstGeom>
          <a:solidFill>
            <a:srgbClr val="FF3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36752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$1B Series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404104"/>
            <a:ext cx="7818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funds model training, user growth, enterprise sales, international expansion, and talent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Replit Series E Investor Presentation</dc:title>
  <dc:subject>Illustrative late-stage financing materials based on public information</dc:subject>
  <dc:creator>Replit Series E materials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